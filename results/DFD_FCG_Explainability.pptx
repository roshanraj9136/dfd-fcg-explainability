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212848"/>
          </a:xfrm>
          <a:prstGeom prst="rect">
            <a:avLst/>
          </a:prstGeom>
          <a:solidFill>
            <a:srgbClr val="142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20624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500"/>
              </a:spcAft>
            </a:pPr>
            <a:r>
              <a:rPr sz="1200" b="1" i="0">
                <a:solidFill>
                  <a:srgbClr val="8FB6F5"/>
                </a:solidFill>
                <a:latin typeface="Segoe UI"/>
              </a:rPr>
              <a:t>CVPR 2025  ·  DFD-FCG  ·  EXPLAINABILITY STUDY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789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500"/>
              </a:spcAft>
            </a:pPr>
            <a:r>
              <a:rPr sz="3100" b="1" i="0">
                <a:solidFill>
                  <a:srgbClr val="FFFFFF"/>
                </a:solidFill>
                <a:latin typeface="Segoe UI"/>
              </a:rPr>
              <a:t>Why does the deepfake detector say YES or NO?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554480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500"/>
              </a:spcAft>
            </a:pPr>
            <a:r>
              <a:rPr sz="1400" b="0" i="0">
                <a:solidFill>
                  <a:srgbClr val="C8D8F5"/>
                </a:solidFill>
                <a:latin typeface="Segoe UI"/>
              </a:rPr>
              <a:t>Exact spatial vs temporal attribution for a frozen-CLIP video deepfake detector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2487168"/>
            <a:ext cx="3529584" cy="1627632"/>
          </a:xfrm>
          <a:prstGeom prst="roundRect">
            <a:avLst/>
          </a:prstGeom>
          <a:solidFill>
            <a:srgbClr val="F2F4F8"/>
          </a:solidFill>
          <a:ln w="15240">
            <a:solidFill>
              <a:srgbClr val="2E6F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2615184"/>
            <a:ext cx="3163824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500"/>
              </a:spcAft>
            </a:pPr>
            <a:r>
              <a:rPr sz="1000" b="1" i="0">
                <a:solidFill>
                  <a:srgbClr val="5A5F6E"/>
                </a:solidFill>
                <a:latin typeface="Segoe UI"/>
              </a:rPr>
              <a:t>REAL SAMPLE  000.MP4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2852928"/>
            <a:ext cx="3163824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500"/>
              </a:spcAft>
            </a:pPr>
            <a:r>
              <a:rPr sz="1700" b="1" i="0">
                <a:solidFill>
                  <a:srgbClr val="2E6FD9"/>
                </a:solidFill>
                <a:latin typeface="Segoe UI"/>
              </a:rPr>
              <a:t>REAL  ·  P=0.421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3291840"/>
            <a:ext cx="3163824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500"/>
              </a:spcAft>
            </a:pPr>
            <a:r>
              <a:rPr sz="1050" b="0" i="0">
                <a:solidFill>
                  <a:srgbClr val="1C1C24"/>
                </a:solidFill>
                <a:latin typeface="Segoe UI"/>
              </a:rPr>
              <a:t>correct ✓   88% of clips agree</a:t>
            </a:r>
          </a:p>
          <a:p>
            <a:pPr algn="l">
              <a:lnSpc>
                <a:spcPct val="118000"/>
              </a:lnSpc>
              <a:spcAft>
                <a:spcPts val="500"/>
              </a:spcAft>
            </a:pPr>
            <a:r>
              <a:rPr sz="1050" b="0" i="0">
                <a:solidFill>
                  <a:srgbClr val="1C1C24"/>
                </a:solidFill>
                <a:latin typeface="Segoe UI"/>
              </a:rPr>
              <a:t>driver: TEMPORAL 70.9%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15968" y="2487168"/>
            <a:ext cx="3529584" cy="1627632"/>
          </a:xfrm>
          <a:prstGeom prst="roundRect">
            <a:avLst/>
          </a:prstGeom>
          <a:solidFill>
            <a:srgbClr val="F2F4F8"/>
          </a:solidFill>
          <a:ln w="15240">
            <a:solidFill>
              <a:srgbClr val="D962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98848" y="2615184"/>
            <a:ext cx="3163824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500"/>
              </a:spcAft>
            </a:pPr>
            <a:r>
              <a:rPr sz="1000" b="1" i="0">
                <a:solidFill>
                  <a:srgbClr val="5A5F6E"/>
                </a:solidFill>
                <a:latin typeface="Segoe UI"/>
              </a:rPr>
              <a:t>FAKE SAMPLE  000_003.MP4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98848" y="2852928"/>
            <a:ext cx="3163824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500"/>
              </a:spcAft>
            </a:pPr>
            <a:r>
              <a:rPr sz="1700" b="1" i="0">
                <a:solidFill>
                  <a:srgbClr val="D9622E"/>
                </a:solidFill>
                <a:latin typeface="Segoe UI"/>
              </a:rPr>
              <a:t>FAKE  ·  P=0.932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98848" y="3291840"/>
            <a:ext cx="3163824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500"/>
              </a:spcAft>
            </a:pPr>
            <a:r>
              <a:rPr sz="1050" b="0" i="0">
                <a:solidFill>
                  <a:srgbClr val="1C1C24"/>
                </a:solidFill>
                <a:latin typeface="Segoe UI"/>
              </a:rPr>
              <a:t>correct ✓   100% of clips agree</a:t>
            </a:r>
          </a:p>
          <a:p>
            <a:pPr algn="l">
              <a:lnSpc>
                <a:spcPct val="118000"/>
              </a:lnSpc>
              <a:spcAft>
                <a:spcPts val="500"/>
              </a:spcAft>
            </a:pPr>
            <a:r>
              <a:rPr sz="1050" b="0" i="0">
                <a:solidFill>
                  <a:srgbClr val="1C1C24"/>
                </a:solidFill>
                <a:latin typeface="Segoe UI"/>
              </a:rPr>
              <a:t>driver: SPATIAL 50.4% · eyes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92440" y="2487168"/>
            <a:ext cx="3529584" cy="1627632"/>
          </a:xfrm>
          <a:prstGeom prst="roundRect">
            <a:avLst/>
          </a:prstGeom>
          <a:solidFill>
            <a:srgbClr val="F2F4F8"/>
          </a:solidFill>
          <a:ln w="15240">
            <a:solidFill>
              <a:srgbClr val="1E7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75319" y="2615184"/>
            <a:ext cx="3163824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500"/>
              </a:spcAft>
            </a:pPr>
            <a:r>
              <a:rPr sz="1000" b="1" i="0">
                <a:solidFill>
                  <a:srgbClr val="5A5F6E"/>
                </a:solidFill>
                <a:latin typeface="Segoe UI"/>
              </a:rPr>
              <a:t>ATTRIBUTION METHOD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75319" y="2852928"/>
            <a:ext cx="3163824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500"/>
              </a:spcAft>
            </a:pPr>
            <a:r>
              <a:rPr sz="1700" b="1" i="0">
                <a:solidFill>
                  <a:srgbClr val="1E7A3C"/>
                </a:solidFill>
                <a:latin typeface="Segoe UI"/>
              </a:rPr>
              <a:t>Exact, not estimated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75319" y="3291840"/>
            <a:ext cx="3163824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500"/>
              </a:spcAft>
            </a:pPr>
            <a:r>
              <a:rPr sz="1050" b="0" i="0">
                <a:solidFill>
                  <a:srgbClr val="1C1C24"/>
                </a:solidFill>
                <a:latin typeface="Segoe UI"/>
              </a:rPr>
              <a:t>reproduces every head logit</a:t>
            </a:r>
          </a:p>
          <a:p>
            <a:pPr algn="l">
              <a:lnSpc>
                <a:spcPct val="118000"/>
              </a:lnSpc>
              <a:spcAft>
                <a:spcPts val="500"/>
              </a:spcAft>
            </a:pPr>
            <a:r>
              <a:rPr sz="1050" b="0" i="0">
                <a:solidFill>
                  <a:srgbClr val="1C1C24"/>
                </a:solidFill>
                <a:latin typeface="Segoe UI"/>
              </a:rPr>
              <a:t>to 9e-08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4389120"/>
            <a:ext cx="11057839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4000"/>
              </a:lnSpc>
              <a:spcAft>
                <a:spcPts val="500"/>
              </a:spcAft>
            </a:pPr>
            <a:r>
              <a:rPr sz="1300" b="0" i="0">
                <a:solidFill>
                  <a:srgbClr val="1C1C24"/>
                </a:solidFill>
                <a:latin typeface="Segoe UI"/>
              </a:rPr>
              <a:t>•  Both FaceForensics++ samples shipped with the repository are classified correctly.</a:t>
            </a:r>
          </a:p>
          <a:p>
            <a:pPr algn="l">
              <a:lnSpc>
                <a:spcPct val="134000"/>
              </a:lnSpc>
              <a:spcAft>
                <a:spcPts val="500"/>
              </a:spcAft>
            </a:pPr>
            <a:r>
              <a:rPr sz="1300" b="0" i="0">
                <a:solidFill>
                  <a:srgbClr val="1C1C24"/>
                </a:solidFill>
                <a:latin typeface="Segoe UI"/>
              </a:rPr>
              <a:t>•  Each decision is split into a spatial vs temporal share, then into facial components, patches and encoder layers — all exactly.</a:t>
            </a:r>
          </a:p>
          <a:p>
            <a:pPr algn="l">
              <a:lnSpc>
                <a:spcPct val="134000"/>
              </a:lnSpc>
              <a:spcAft>
                <a:spcPts val="500"/>
              </a:spcAft>
            </a:pPr>
            <a:r>
              <a:rPr sz="1300" b="0" i="0">
                <a:solidFill>
                  <a:srgbClr val="1C1C24"/>
                </a:solidFill>
                <a:latin typeface="Segoe UI"/>
              </a:rPr>
              <a:t>•  Stress-tested on the authors' own 7 perturbations × 3 severities: 12/21 false positives, 2/21 false negatives.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608990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500"/>
              </a:spcAft>
            </a:pPr>
            <a:r>
              <a:rPr sz="1050" b="0" i="0">
                <a:solidFill>
                  <a:srgbClr val="5A5F6E"/>
                </a:solidFill>
                <a:latin typeface="Segoe UI"/>
              </a:rPr>
              <a:t>Released FFG ViT-L/14 checkpoint  ·  303.4 M parameters, only 0.25 M trained (0.08%)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"/>
          </a:xfrm>
          <a:prstGeom prst="rect">
            <a:avLst/>
          </a:prstGeom>
          <a:solidFill>
            <a:srgbClr val="2E6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74320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500"/>
              </a:spcAft>
            </a:pPr>
            <a:r>
              <a:rPr sz="1100" b="1" i="0">
                <a:solidFill>
                  <a:srgbClr val="2E6FD9"/>
                </a:solidFill>
                <a:latin typeface="Segoe UI"/>
              </a:rPr>
              <a:t>BACKGROUND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48640"/>
            <a:ext cx="11057839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500"/>
              </a:spcAft>
            </a:pPr>
            <a:r>
              <a:rPr sz="2500" b="1" i="0">
                <a:solidFill>
                  <a:srgbClr val="1C1C24"/>
                </a:solidFill>
                <a:latin typeface="Segoe UI"/>
              </a:rPr>
              <a:t>What the authors built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060704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500"/>
              </a:spcAft>
            </a:pPr>
            <a:r>
              <a:rPr sz="1300" b="0" i="0">
                <a:solidFill>
                  <a:srgbClr val="5A5F6E"/>
                </a:solidFill>
                <a:latin typeface="Segoe UI"/>
              </a:rPr>
              <a:t>A small side network reads a frozen CLIP encoder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554480"/>
            <a:ext cx="548640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6000"/>
              </a:lnSpc>
              <a:spcAft>
                <a:spcPts val="500"/>
              </a:spcAft>
            </a:pPr>
            <a:r>
              <a:rPr sz="1250" b="0" i="0">
                <a:solidFill>
                  <a:srgbClr val="1C1C24"/>
                </a:solidFill>
                <a:latin typeface="Segoe UI"/>
              </a:rPr>
              <a:t>•  CLIP ViT-L/14 is FROZEN — none of the 303 M backbone parameters are trained.</a:t>
            </a:r>
          </a:p>
          <a:p>
            <a:pPr algn="l">
              <a:lnSpc>
                <a:spcPct val="126000"/>
              </a:lnSpc>
              <a:spcAft>
                <a:spcPts val="500"/>
              </a:spcAft>
            </a:pPr>
            <a:r>
              <a:rPr sz="1250" b="0" i="0">
                <a:solidFill>
                  <a:srgbClr val="1C1C24"/>
                </a:solidFill>
                <a:latin typeface="Segoe UI"/>
              </a:rPr>
              <a:t>•  A side network (0.25 M params) taps the q / k / v / embedding tensors of all 24 layers.</a:t>
            </a:r>
          </a:p>
          <a:p>
            <a:pPr algn="l">
              <a:lnSpc>
                <a:spcPct val="126000"/>
              </a:lnSpc>
              <a:spcAft>
                <a:spcPts val="500"/>
              </a:spcAft>
            </a:pPr>
            <a:r>
              <a:rPr sz="1250" b="0" i="0">
                <a:solidFill>
                  <a:srgbClr val="1C1C24"/>
                </a:solidFill>
                <a:latin typeface="Segoe UI"/>
              </a:rPr>
              <a:t>•  SPATIAL branch (S): four learned queries — lips, skin, eyes, nose — attend over image patches. This is Facial Component Guidance.</a:t>
            </a:r>
          </a:p>
          <a:p>
            <a:pPr algn="l">
              <a:lnSpc>
                <a:spcPct val="126000"/>
              </a:lnSpc>
              <a:spcAft>
                <a:spcPts val="500"/>
              </a:spcAft>
            </a:pPr>
            <a:r>
              <a:rPr sz="1250" b="0" i="0">
                <a:solidFill>
                  <a:srgbClr val="1C1C24"/>
                </a:solidFill>
                <a:latin typeface="Segoe UI"/>
              </a:rPr>
              <a:t>•  TEMPORAL branch (T): frame-to-frame affinity per patch, then convolutions; the output is a 16×16 map.</a:t>
            </a:r>
          </a:p>
          <a:p>
            <a:pPr algn="l">
              <a:lnSpc>
                <a:spcPct val="126000"/>
              </a:lnSpc>
              <a:spcAft>
                <a:spcPts val="500"/>
              </a:spcAft>
            </a:pPr>
            <a:r>
              <a:rPr sz="1250" b="0" i="0">
                <a:solidFill>
                  <a:srgbClr val="1C1C24"/>
                </a:solidFill>
                <a:latin typeface="Segoe UI"/>
              </a:rPr>
              <a:t>•  Three heads vote: s_head, t_head and fusion a_head.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1554480"/>
            <a:ext cx="2560320" cy="1207008"/>
          </a:xfrm>
          <a:prstGeom prst="roundRect">
            <a:avLst/>
          </a:prstGeom>
          <a:solidFill>
            <a:srgbClr val="F2F4F8"/>
          </a:solidFill>
          <a:ln w="15240">
            <a:solidFill>
              <a:srgbClr val="1E7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46520" y="1682496"/>
            <a:ext cx="219456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500"/>
              </a:spcAft>
            </a:pPr>
            <a:r>
              <a:rPr sz="1000" b="1" i="0">
                <a:solidFill>
                  <a:srgbClr val="5A5F6E"/>
                </a:solidFill>
                <a:latin typeface="Segoe UI"/>
              </a:rPr>
              <a:t>TRAINABLE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46520" y="1920240"/>
            <a:ext cx="219456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500"/>
              </a:spcAft>
            </a:pPr>
            <a:r>
              <a:rPr sz="1800" b="1" i="0">
                <a:solidFill>
                  <a:srgbClr val="1E7A3C"/>
                </a:solidFill>
                <a:latin typeface="Segoe UI"/>
              </a:rPr>
              <a:t>0.08%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46520" y="2359152"/>
            <a:ext cx="21945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500"/>
              </a:spcAft>
            </a:pPr>
            <a:r>
              <a:rPr sz="1050" b="0" i="0">
                <a:solidFill>
                  <a:srgbClr val="1C1C24"/>
                </a:solidFill>
                <a:latin typeface="Segoe UI"/>
              </a:rPr>
              <a:t>0.25 M of 303.4 M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052560" y="1554480"/>
            <a:ext cx="2569464" cy="1207008"/>
          </a:xfrm>
          <a:prstGeom prst="roundRect">
            <a:avLst/>
          </a:prstGeom>
          <a:solidFill>
            <a:srgbClr val="F2F4F8"/>
          </a:solidFill>
          <a:ln w="15240">
            <a:solidFill>
              <a:srgbClr val="2E6F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235440" y="1682496"/>
            <a:ext cx="2203704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500"/>
              </a:spcAft>
            </a:pPr>
            <a:r>
              <a:rPr sz="1000" b="1" i="0">
                <a:solidFill>
                  <a:srgbClr val="5A5F6E"/>
                </a:solidFill>
                <a:latin typeface="Segoe UI"/>
              </a:rPr>
              <a:t>INPUT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235440" y="1920240"/>
            <a:ext cx="2203704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500"/>
              </a:spcAft>
            </a:pPr>
            <a:r>
              <a:rPr sz="1800" b="1" i="0">
                <a:solidFill>
                  <a:srgbClr val="2E6FD9"/>
                </a:solidFill>
                <a:latin typeface="Segoe UI"/>
              </a:rPr>
              <a:t>10 frames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35440" y="2359152"/>
            <a:ext cx="2203704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500"/>
              </a:spcAft>
            </a:pPr>
            <a:r>
              <a:rPr sz="1050" b="0" i="0">
                <a:solidFill>
                  <a:srgbClr val="1C1C24"/>
                </a:solidFill>
                <a:latin typeface="Segoe UI"/>
              </a:rPr>
              <a:t>3 s clip, aligned face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63640" y="2926080"/>
            <a:ext cx="5358384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500"/>
              </a:spcAft>
            </a:pPr>
            <a:r>
              <a:rPr sz="1150" b="0" i="0">
                <a:solidFill>
                  <a:srgbClr val="1C1C24"/>
                </a:solidFill>
                <a:latin typeface="Segoe UI"/>
              </a:rPr>
              <a:t>Why this architecture is unusually explainable:</a:t>
            </a:r>
          </a:p>
          <a:p>
            <a:pPr algn="l">
              <a:lnSpc>
                <a:spcPct val="122000"/>
              </a:lnSpc>
              <a:spcAft>
                <a:spcPts val="500"/>
              </a:spcAft>
            </a:pPr>
            <a:r>
              <a:rPr sz="1150" b="0" i="0">
                <a:solidFill>
                  <a:srgbClr val="1C1C24"/>
                </a:solidFill>
                <a:latin typeface="Segoe UI"/>
              </a:rPr>
              <a:t>•  the score is an explicit mean of three heads;</a:t>
            </a:r>
          </a:p>
          <a:p>
            <a:pPr algn="l">
              <a:lnSpc>
                <a:spcPct val="122000"/>
              </a:lnSpc>
              <a:spcAft>
                <a:spcPts val="500"/>
              </a:spcAft>
            </a:pPr>
            <a:r>
              <a:rPr sz="1150" b="0" i="0">
                <a:solidFill>
                  <a:srgbClr val="1C1C24"/>
                </a:solidFill>
                <a:latin typeface="Segoe UI"/>
              </a:rPr>
              <a:t>•  y_s and y_t are sums over 24 layers, 4 components and 256 patches.</a:t>
            </a:r>
          </a:p>
        </p:txBody>
      </p:sp>
      <p:pic>
        <p:nvPicPr>
          <p:cNvPr id="16" name="Picture 15" descr="f1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70901" y="3895344"/>
            <a:ext cx="5249891" cy="267004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"/>
          </a:xfrm>
          <a:prstGeom prst="rect">
            <a:avLst/>
          </a:prstGeom>
          <a:solidFill>
            <a:srgbClr val="2E6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74320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500"/>
              </a:spcAft>
            </a:pPr>
            <a:r>
              <a:rPr sz="1100" b="1" i="0">
                <a:solidFill>
                  <a:srgbClr val="2E6FD9"/>
                </a:solidFill>
                <a:latin typeface="Segoe UI"/>
              </a:rPr>
              <a:t>METHOD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48640"/>
            <a:ext cx="11057839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500"/>
              </a:spcAft>
            </a:pPr>
            <a:r>
              <a:rPr sz="2500" b="1" i="0">
                <a:solidFill>
                  <a:srgbClr val="1C1C24"/>
                </a:solidFill>
                <a:latin typeface="Segoe UI"/>
              </a:rPr>
              <a:t>How we measure each contribution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060704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500"/>
              </a:spcAft>
            </a:pPr>
            <a:r>
              <a:rPr sz="1300" b="0" i="0">
                <a:solidFill>
                  <a:srgbClr val="5A5F6E"/>
                </a:solidFill>
                <a:latin typeface="Segoe UI"/>
              </a:rPr>
              <a:t>No gradients, no surrogate model, no approximation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554480"/>
            <a:ext cx="5623560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Aft>
                <a:spcPts val="500"/>
              </a:spcAft>
            </a:pPr>
            <a:r>
              <a:rPr sz="1250" b="0" i="0">
                <a:solidFill>
                  <a:srgbClr val="1C1C24"/>
                </a:solidFill>
                <a:latin typeface="Segoe UI"/>
              </a:rPr>
              <a:t>The decision is a 2-class softmax, so the entire verdict is one number:</a:t>
            </a:r>
          </a:p>
          <a:p>
            <a:pPr algn="l">
              <a:lnSpc>
                <a:spcPct val="128000"/>
              </a:lnSpc>
              <a:spcAft>
                <a:spcPts val="500"/>
              </a:spcAft>
            </a:pPr>
            <a:r>
              <a:rPr sz="1250" b="0" i="0">
                <a:solidFill>
                  <a:srgbClr val="1C1C24"/>
                </a:solidFill>
                <a:latin typeface="Segoe UI"/>
              </a:rPr>
              <a:t>       d  =  logit(FAKE) − logit(REAL),        P(FAKE) = σ(d)</a:t>
            </a:r>
          </a:p>
          <a:p>
            <a:pPr algn="l">
              <a:lnSpc>
                <a:spcPct val="128000"/>
              </a:lnSpc>
              <a:spcAft>
                <a:spcPts val="500"/>
              </a:spcAft>
            </a:pPr>
            <a:r>
              <a:rPr sz="1250" b="0" i="0">
                <a:solidFill>
                  <a:srgbClr val="1C1C24"/>
                </a:solidFill>
                <a:latin typeface="Segoe UI"/>
              </a:rPr>
              <a:t>Each head is a LayerNorm followed by a Linear layer, and its input is a SUM of parts (24 layers; 4 components; 256 patches).</a:t>
            </a:r>
          </a:p>
          <a:p>
            <a:pPr algn="l">
              <a:lnSpc>
                <a:spcPct val="128000"/>
              </a:lnSpc>
              <a:spcAft>
                <a:spcPts val="500"/>
              </a:spcAft>
            </a:pPr>
            <a:r>
              <a:rPr sz="1250" b="0" i="0">
                <a:solidFill>
                  <a:srgbClr val="1C1C24"/>
                </a:solidFill>
                <a:latin typeface="Segoe UI"/>
              </a:rPr>
              <a:t>Because the LayerNorm mean is itself additive over those parts, d splits exactly:</a:t>
            </a:r>
          </a:p>
          <a:p>
            <a:pPr algn="l">
              <a:lnSpc>
                <a:spcPct val="128000"/>
              </a:lnSpc>
              <a:spcAft>
                <a:spcPts val="500"/>
              </a:spcAft>
            </a:pPr>
            <a:r>
              <a:rPr sz="1250" b="0" i="0">
                <a:solidFill>
                  <a:srgbClr val="1C1C24"/>
                </a:solidFill>
                <a:latin typeface="Segoe UI"/>
              </a:rPr>
              <a:t>       d  =  Σₖ contribution(part k)  +  constant</a:t>
            </a:r>
          </a:p>
          <a:p>
            <a:pPr algn="l">
              <a:lnSpc>
                <a:spcPct val="128000"/>
              </a:lnSpc>
              <a:spcAft>
                <a:spcPts val="500"/>
              </a:spcAft>
            </a:pPr>
            <a:r>
              <a:rPr sz="1250" b="0" i="0">
                <a:solidFill>
                  <a:srgbClr val="1C1C24"/>
                </a:solidFill>
                <a:latin typeface="Segoe UI"/>
              </a:rPr>
              <a:t>Each contribution is a true share of the real logit — together they reproduce the model's own output with no residual.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0" y="1554480"/>
            <a:ext cx="2542032" cy="1188720"/>
          </a:xfrm>
          <a:prstGeom prst="roundRect">
            <a:avLst/>
          </a:prstGeom>
          <a:solidFill>
            <a:srgbClr val="F2F4F8"/>
          </a:solidFill>
          <a:ln w="15240">
            <a:solidFill>
              <a:srgbClr val="1E7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0" y="1682496"/>
            <a:ext cx="2176272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500"/>
              </a:spcAft>
            </a:pPr>
            <a:r>
              <a:rPr sz="1000" b="1" i="0">
                <a:solidFill>
                  <a:srgbClr val="5A5F6E"/>
                </a:solidFill>
                <a:latin typeface="Segoe UI"/>
              </a:rPr>
              <a:t>RECONSTRUCTION ERROR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0" y="1920240"/>
            <a:ext cx="2176272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500"/>
              </a:spcAft>
            </a:pPr>
            <a:r>
              <a:rPr sz="1700" b="1" i="0">
                <a:solidFill>
                  <a:srgbClr val="1E7A3C"/>
                </a:solidFill>
                <a:latin typeface="Segoe UI"/>
              </a:rPr>
              <a:t>9e-08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2359152"/>
            <a:ext cx="217627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500"/>
              </a:spcAft>
            </a:pPr>
            <a:r>
              <a:rPr sz="1050" b="0" i="0">
                <a:solidFill>
                  <a:srgbClr val="1C1C24"/>
                </a:solidFill>
                <a:latin typeface="Segoe UI"/>
              </a:rPr>
              <a:t>instrumented vs untouched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079992" y="1554480"/>
            <a:ext cx="2542032" cy="1188720"/>
          </a:xfrm>
          <a:prstGeom prst="roundRect">
            <a:avLst/>
          </a:prstGeom>
          <a:solidFill>
            <a:srgbClr val="F2F4F8"/>
          </a:solidFill>
          <a:ln w="15240">
            <a:solidFill>
              <a:srgbClr val="1E7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262872" y="1682496"/>
            <a:ext cx="2176272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500"/>
              </a:spcAft>
            </a:pPr>
            <a:r>
              <a:rPr sz="1000" b="1" i="0">
                <a:solidFill>
                  <a:srgbClr val="5A5F6E"/>
                </a:solidFill>
                <a:latin typeface="Segoe UI"/>
              </a:rPr>
              <a:t>ADDITIVITY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262872" y="1920240"/>
            <a:ext cx="2176272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500"/>
              </a:spcAft>
            </a:pPr>
            <a:r>
              <a:rPr sz="1700" b="1" i="0">
                <a:solidFill>
                  <a:srgbClr val="1E7A3C"/>
                </a:solidFill>
                <a:latin typeface="Segoe UI"/>
              </a:rPr>
              <a:t>exact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62872" y="2359152"/>
            <a:ext cx="217627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500"/>
              </a:spcAft>
            </a:pPr>
            <a:r>
              <a:rPr sz="1050" b="0" i="0">
                <a:solidFill>
                  <a:srgbClr val="1C1C24"/>
                </a:solidFill>
                <a:latin typeface="Segoe UI"/>
              </a:rPr>
              <a:t>verified 1e-16 in float64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2907792"/>
            <a:ext cx="5221224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500"/>
              </a:spcAft>
            </a:pPr>
            <a:r>
              <a:rPr sz="1150" b="0" i="0">
                <a:solidFill>
                  <a:srgbClr val="1C1C24"/>
                </a:solidFill>
                <a:latin typeface="Segoe UI"/>
              </a:rPr>
              <a:t>Branch split = Shapley values over {S, T}:</a:t>
            </a:r>
          </a:p>
          <a:p>
            <a:pPr algn="l">
              <a:lnSpc>
                <a:spcPct val="124000"/>
              </a:lnSpc>
              <a:spcAft>
                <a:spcPts val="500"/>
              </a:spcAft>
            </a:pPr>
            <a:r>
              <a:rPr sz="1150" b="0" i="0">
                <a:solidFill>
                  <a:srgbClr val="1C1C24"/>
                </a:solidFill>
                <a:latin typeface="Segoe UI"/>
              </a:rPr>
              <a:t>•  v(∅)=0.5, v({S})=s_head P, v({T})=t_head P, v({S,T})=final P</a:t>
            </a:r>
          </a:p>
          <a:p>
            <a:pPr algn="l">
              <a:lnSpc>
                <a:spcPct val="124000"/>
              </a:lnSpc>
              <a:spcAft>
                <a:spcPts val="500"/>
              </a:spcAft>
            </a:pPr>
            <a:r>
              <a:rPr sz="1150" b="0" i="0">
                <a:solidFill>
                  <a:srgbClr val="1C1C24"/>
                </a:solidFill>
                <a:latin typeface="Segoe UI"/>
              </a:rPr>
              <a:t>•  φ_S + φ_T = P_final − 0.5 holds exactly</a:t>
            </a:r>
          </a:p>
          <a:p>
            <a:pPr algn="l">
              <a:lnSpc>
                <a:spcPct val="124000"/>
              </a:lnSpc>
              <a:spcAft>
                <a:spcPts val="500"/>
              </a:spcAft>
            </a:pPr>
            <a:r>
              <a:rPr sz="1150" b="0" i="0">
                <a:solidFill>
                  <a:srgbClr val="1C1C24"/>
                </a:solidFill>
                <a:latin typeface="Segoe UI"/>
              </a:rPr>
              <a:t>•  the spatial head provably never reads the temporal branch, so a branch ablation is exact for this checkpoint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4864608"/>
            <a:ext cx="11057839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6000"/>
              </a:lnSpc>
              <a:spcAft>
                <a:spcPts val="500"/>
              </a:spcAft>
            </a:pPr>
            <a:r>
              <a:rPr sz="1200" b="0" i="0">
                <a:solidFill>
                  <a:srgbClr val="1C1C24"/>
                </a:solidFill>
                <a:latin typeface="Segoe UI"/>
              </a:rPr>
              <a:t>What this yields for every 3-second clip:</a:t>
            </a:r>
          </a:p>
          <a:p>
            <a:pPr algn="l">
              <a:lnSpc>
                <a:spcPct val="126000"/>
              </a:lnSpc>
              <a:spcAft>
                <a:spcPts val="500"/>
              </a:spcAft>
            </a:pPr>
            <a:r>
              <a:rPr sz="1200" b="0" i="0">
                <a:solidFill>
                  <a:srgbClr val="1C1C24"/>
                </a:solidFill>
                <a:latin typeface="Segoe UI"/>
              </a:rPr>
              <a:t>•  spatial vs temporal percentage share        - contribution of lips / skin / eyes / nose</a:t>
            </a:r>
          </a:p>
          <a:p>
            <a:pPr algn="l">
              <a:lnSpc>
                <a:spcPct val="126000"/>
              </a:lnSpc>
              <a:spcAft>
                <a:spcPts val="500"/>
              </a:spcAft>
            </a:pPr>
            <a:r>
              <a:rPr sz="1200" b="0" i="0">
                <a:solidFill>
                  <a:srgbClr val="1C1C24"/>
                </a:solidFill>
                <a:latin typeface="Segoe UI"/>
              </a:rPr>
              <a:t>•  a 16×16 temporal evidence map                - per-layer contribution across 24 CLIP layers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"/>
          </a:xfrm>
          <a:prstGeom prst="rect">
            <a:avLst/>
          </a:prstGeom>
          <a:solidFill>
            <a:srgbClr val="2E6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74320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500"/>
              </a:spcAft>
            </a:pPr>
            <a:r>
              <a:rPr sz="1100" b="1" i="0">
                <a:solidFill>
                  <a:srgbClr val="2E6FD9"/>
                </a:solidFill>
                <a:latin typeface="Segoe UI"/>
              </a:rPr>
              <a:t>RESULT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48640"/>
            <a:ext cx="11057839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500"/>
              </a:spcAft>
            </a:pPr>
            <a:r>
              <a:rPr sz="2500" b="1" i="0">
                <a:solidFill>
                  <a:srgbClr val="1C1C24"/>
                </a:solidFill>
                <a:latin typeface="Segoe UI"/>
              </a:rPr>
              <a:t>The verdicts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060704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500"/>
              </a:spcAft>
            </a:pPr>
            <a:r>
              <a:rPr sz="1300" b="0" i="0">
                <a:solidFill>
                  <a:srgbClr val="5A5F6E"/>
                </a:solidFill>
                <a:latin typeface="Segoe UI"/>
              </a:rPr>
              <a:t>60 overlapping 3-second clips per video</a:t>
            </a:r>
          </a:p>
        </p:txBody>
      </p:sp>
      <p:pic>
        <p:nvPicPr>
          <p:cNvPr id="6" name="Picture 5" descr="f2_verdict_tim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9459" y="1554480"/>
            <a:ext cx="9832776" cy="3246120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66928" y="4928616"/>
          <a:ext cx="11057835" cy="8503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15832"/>
                <a:gridCol w="1189014"/>
                <a:gridCol w="1545719"/>
                <a:gridCol w="1783522"/>
                <a:gridCol w="1783522"/>
                <a:gridCol w="2140226"/>
              </a:tblGrid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video</a:t>
                      </a:r>
                    </a:p>
                  </a:txBody>
                  <a:tcPr marL="54864" marR="54864" marT="9144" marB="9144">
                    <a:solidFill>
                      <a:srgbClr val="2E6F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truth</a:t>
                      </a:r>
                    </a:p>
                  </a:txBody>
                  <a:tcPr marL="54864" marR="54864" marT="9144" marB="9144">
                    <a:solidFill>
                      <a:srgbClr val="2E6F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verdict</a:t>
                      </a:r>
                    </a:p>
                  </a:txBody>
                  <a:tcPr marL="54864" marR="54864" marT="9144" marB="9144">
                    <a:solidFill>
                      <a:srgbClr val="2E6F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mean P(FAKE)</a:t>
                      </a:r>
                    </a:p>
                  </a:txBody>
                  <a:tcPr marL="54864" marR="54864" marT="9144" marB="9144">
                    <a:solidFill>
                      <a:srgbClr val="2E6F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range</a:t>
                      </a:r>
                    </a:p>
                  </a:txBody>
                  <a:tcPr marL="54864" marR="54864" marT="9144" marB="9144">
                    <a:solidFill>
                      <a:srgbClr val="2E6F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clips correct</a:t>
                      </a:r>
                    </a:p>
                  </a:txBody>
                  <a:tcPr marL="54864" marR="54864" marT="9144" marB="9144">
                    <a:solidFill>
                      <a:srgbClr val="2E6FD9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C1C24"/>
                          </a:solidFill>
                          <a:latin typeface="Segoe UI"/>
                        </a:rPr>
                        <a:t>000.mp4</a:t>
                      </a:r>
                    </a:p>
                  </a:txBody>
                  <a:tcPr marL="54864" marR="54864" marT="9144" marB="9144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24"/>
                          </a:solidFill>
                          <a:latin typeface="Segoe UI"/>
                        </a:rPr>
                        <a:t>REAL</a:t>
                      </a:r>
                    </a:p>
                  </a:txBody>
                  <a:tcPr marL="54864" marR="54864" marT="9144" marB="9144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24"/>
                          </a:solidFill>
                          <a:latin typeface="Segoe UI"/>
                        </a:rPr>
                        <a:t>REAL  ✓</a:t>
                      </a:r>
                    </a:p>
                  </a:txBody>
                  <a:tcPr marL="54864" marR="54864" marT="9144" marB="9144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24"/>
                          </a:solidFill>
                          <a:latin typeface="Segoe UI"/>
                        </a:rPr>
                        <a:t>0.421</a:t>
                      </a:r>
                    </a:p>
                  </a:txBody>
                  <a:tcPr marL="54864" marR="54864" marT="9144" marB="9144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24"/>
                          </a:solidFill>
                          <a:latin typeface="Segoe UI"/>
                        </a:rPr>
                        <a:t>0.29 – 0.54</a:t>
                      </a:r>
                    </a:p>
                  </a:txBody>
                  <a:tcPr marL="54864" marR="54864" marT="9144" marB="9144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24"/>
                          </a:solidFill>
                          <a:latin typeface="Segoe UI"/>
                        </a:rPr>
                        <a:t>88%   (53/60)</a:t>
                      </a:r>
                    </a:p>
                  </a:txBody>
                  <a:tcPr marL="54864" marR="54864" marT="9144" marB="9144">
                    <a:solidFill>
                      <a:srgbClr val="F2F4F8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C1C24"/>
                          </a:solidFill>
                          <a:latin typeface="Segoe UI"/>
                        </a:rPr>
                        <a:t>000_003.mp4</a:t>
                      </a:r>
                    </a:p>
                  </a:txBody>
                  <a:tcPr marL="54864" marR="54864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24"/>
                          </a:solidFill>
                          <a:latin typeface="Segoe UI"/>
                        </a:rPr>
                        <a:t>FAKE</a:t>
                      </a:r>
                    </a:p>
                  </a:txBody>
                  <a:tcPr marL="54864" marR="54864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24"/>
                          </a:solidFill>
                          <a:latin typeface="Segoe UI"/>
                        </a:rPr>
                        <a:t>FAKE  ✓</a:t>
                      </a:r>
                    </a:p>
                  </a:txBody>
                  <a:tcPr marL="54864" marR="54864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24"/>
                          </a:solidFill>
                          <a:latin typeface="Segoe UI"/>
                        </a:rPr>
                        <a:t>0.932</a:t>
                      </a:r>
                    </a:p>
                  </a:txBody>
                  <a:tcPr marL="54864" marR="54864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24"/>
                          </a:solidFill>
                          <a:latin typeface="Segoe UI"/>
                        </a:rPr>
                        <a:t>0.87 – 0.95</a:t>
                      </a:r>
                    </a:p>
                  </a:txBody>
                  <a:tcPr marL="54864" marR="54864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24"/>
                          </a:solidFill>
                          <a:latin typeface="Segoe UI"/>
                        </a:rPr>
                        <a:t>100%   (60/60)</a:t>
                      </a:r>
                    </a:p>
                  </a:txBody>
                  <a:tcPr marL="54864" marR="54864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66928" y="5888736"/>
            <a:ext cx="11057839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6000"/>
              </a:lnSpc>
              <a:spcAft>
                <a:spcPts val="500"/>
              </a:spcAft>
            </a:pPr>
            <a:r>
              <a:rPr sz="1200" b="0" i="0">
                <a:solidFill>
                  <a:srgbClr val="1C1C24"/>
                </a:solidFill>
                <a:latin typeface="Segoe UI"/>
              </a:rPr>
              <a:t>•  The fake is detected confidently with zero disagreement across all 60 clips.</a:t>
            </a:r>
          </a:p>
          <a:p>
            <a:pPr algn="l">
              <a:lnSpc>
                <a:spcPct val="126000"/>
              </a:lnSpc>
              <a:spcAft>
                <a:spcPts val="500"/>
              </a:spcAft>
            </a:pPr>
            <a:r>
              <a:rPr sz="1200" b="0" i="0">
                <a:solidFill>
                  <a:srgbClr val="1C1C24"/>
                </a:solidFill>
                <a:latin typeface="Segoe UI"/>
              </a:rPr>
              <a:t>•  The real video stays below threshold but much closer to it (0.42), and 7 of 60 clips drift over — the model is more certain about fakes than about reals.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"/>
          </a:xfrm>
          <a:prstGeom prst="rect">
            <a:avLst/>
          </a:prstGeom>
          <a:solidFill>
            <a:srgbClr val="2E6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74320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500"/>
              </a:spcAft>
            </a:pPr>
            <a:r>
              <a:rPr sz="1100" b="1" i="0">
                <a:solidFill>
                  <a:srgbClr val="2E6FD9"/>
                </a:solidFill>
                <a:latin typeface="Segoe UI"/>
              </a:rPr>
              <a:t>RESULT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48640"/>
            <a:ext cx="11057839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500"/>
              </a:spcAft>
            </a:pPr>
            <a:r>
              <a:rPr sz="2500" b="1" i="0">
                <a:solidFill>
                  <a:srgbClr val="1C1C24"/>
                </a:solidFill>
                <a:latin typeface="Segoe UI"/>
              </a:rPr>
              <a:t>Spatial vs temporal: the headline answer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060704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500"/>
              </a:spcAft>
            </a:pPr>
            <a:r>
              <a:rPr sz="1300" b="0" i="0">
                <a:solidFill>
                  <a:srgbClr val="5A5F6E"/>
                </a:solidFill>
                <a:latin typeface="Segoe UI"/>
              </a:rPr>
              <a:t>Share of the evidence that moved each decision away from chance</a:t>
            </a:r>
          </a:p>
        </p:txBody>
      </p:sp>
      <p:pic>
        <p:nvPicPr>
          <p:cNvPr id="6" name="Picture 5" descr="f3_branch_sh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4436" y="1554480"/>
            <a:ext cx="9922823" cy="3154680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66928" y="4818888"/>
          <a:ext cx="11057836" cy="8503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65968"/>
                <a:gridCol w="1139983"/>
                <a:gridCol w="1481978"/>
                <a:gridCol w="1595976"/>
                <a:gridCol w="2621961"/>
                <a:gridCol w="2051970"/>
              </a:tblGrid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video</a:t>
                      </a:r>
                    </a:p>
                  </a:txBody>
                  <a:tcPr marL="54864" marR="54864" marT="9144" marB="9144">
                    <a:solidFill>
                      <a:srgbClr val="2E6F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verdict</a:t>
                      </a:r>
                    </a:p>
                  </a:txBody>
                  <a:tcPr marL="54864" marR="54864" marT="9144" marB="9144">
                    <a:solidFill>
                      <a:srgbClr val="2E6F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SPATIAL</a:t>
                      </a:r>
                    </a:p>
                  </a:txBody>
                  <a:tcPr marL="54864" marR="54864" marT="9144" marB="9144">
                    <a:solidFill>
                      <a:srgbClr val="2E6F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TEMPORAL</a:t>
                      </a:r>
                    </a:p>
                  </a:txBody>
                  <a:tcPr marL="54864" marR="54864" marT="9144" marB="9144">
                    <a:solidFill>
                      <a:srgbClr val="2E6F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dominant branch</a:t>
                      </a:r>
                    </a:p>
                  </a:txBody>
                  <a:tcPr marL="54864" marR="54864" marT="9144" marB="9144">
                    <a:solidFill>
                      <a:srgbClr val="2E6F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clips where S wins</a:t>
                      </a:r>
                    </a:p>
                  </a:txBody>
                  <a:tcPr marL="54864" marR="54864" marT="9144" marB="9144">
                    <a:solidFill>
                      <a:srgbClr val="2E6FD9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C1C24"/>
                          </a:solidFill>
                          <a:latin typeface="Segoe UI"/>
                        </a:rPr>
                        <a:t>000.mp4</a:t>
                      </a:r>
                    </a:p>
                  </a:txBody>
                  <a:tcPr marL="54864" marR="54864" marT="9144" marB="9144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24"/>
                          </a:solidFill>
                          <a:latin typeface="Segoe UI"/>
                        </a:rPr>
                        <a:t>REAL</a:t>
                      </a:r>
                    </a:p>
                  </a:txBody>
                  <a:tcPr marL="54864" marR="54864" marT="9144" marB="9144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24"/>
                          </a:solidFill>
                          <a:latin typeface="Segoe UI"/>
                        </a:rPr>
                        <a:t>29.1%</a:t>
                      </a:r>
                    </a:p>
                  </a:txBody>
                  <a:tcPr marL="54864" marR="54864" marT="9144" marB="9144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24"/>
                          </a:solidFill>
                          <a:latin typeface="Segoe UI"/>
                        </a:rPr>
                        <a:t>70.9%</a:t>
                      </a:r>
                    </a:p>
                  </a:txBody>
                  <a:tcPr marL="54864" marR="54864" marT="9144" marB="9144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24"/>
                          </a:solidFill>
                          <a:latin typeface="Segoe UI"/>
                        </a:rPr>
                        <a:t>TEMPORAL</a:t>
                      </a:r>
                    </a:p>
                  </a:txBody>
                  <a:tcPr marL="54864" marR="54864" marT="9144" marB="9144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24"/>
                          </a:solidFill>
                          <a:latin typeface="Segoe UI"/>
                        </a:rPr>
                        <a:t>13/60</a:t>
                      </a:r>
                    </a:p>
                  </a:txBody>
                  <a:tcPr marL="54864" marR="54864" marT="9144" marB="9144">
                    <a:solidFill>
                      <a:srgbClr val="F2F4F8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C1C24"/>
                          </a:solidFill>
                          <a:latin typeface="Segoe UI"/>
                        </a:rPr>
                        <a:t>000_003.mp4</a:t>
                      </a:r>
                    </a:p>
                  </a:txBody>
                  <a:tcPr marL="54864" marR="54864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24"/>
                          </a:solidFill>
                          <a:latin typeface="Segoe UI"/>
                        </a:rPr>
                        <a:t>FAKE</a:t>
                      </a:r>
                    </a:p>
                  </a:txBody>
                  <a:tcPr marL="54864" marR="54864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24"/>
                          </a:solidFill>
                          <a:latin typeface="Segoe UI"/>
                        </a:rPr>
                        <a:t>50.4%</a:t>
                      </a:r>
                    </a:p>
                  </a:txBody>
                  <a:tcPr marL="54864" marR="54864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24"/>
                          </a:solidFill>
                          <a:latin typeface="Segoe UI"/>
                        </a:rPr>
                        <a:t>49.6%</a:t>
                      </a:r>
                    </a:p>
                  </a:txBody>
                  <a:tcPr marL="54864" marR="54864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24"/>
                          </a:solidFill>
                          <a:latin typeface="Segoe UI"/>
                        </a:rPr>
                        <a:t>balanced (S slightly ahead)</a:t>
                      </a:r>
                    </a:p>
                  </a:txBody>
                  <a:tcPr marL="54864" marR="54864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24"/>
                          </a:solidFill>
                          <a:latin typeface="Segoe UI"/>
                        </a:rPr>
                        <a:t>33/60</a:t>
                      </a:r>
                    </a:p>
                  </a:txBody>
                  <a:tcPr marL="54864" marR="54864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66928" y="5779008"/>
            <a:ext cx="11057839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6000"/>
              </a:lnSpc>
              <a:spcAft>
                <a:spcPts val="500"/>
              </a:spcAft>
            </a:pPr>
            <a:r>
              <a:rPr sz="1200" b="0" i="0">
                <a:solidFill>
                  <a:srgbClr val="1C1C24"/>
                </a:solidFill>
                <a:latin typeface="Segoe UI"/>
              </a:rPr>
              <a:t>•  Saying FAKE is a JOINT decision: spatial 50.4% vs temporal 49.6%, with the branches agreeing on 100% of clips.</a:t>
            </a:r>
          </a:p>
          <a:p>
            <a:pPr algn="l">
              <a:lnSpc>
                <a:spcPct val="126000"/>
              </a:lnSpc>
              <a:spcAft>
                <a:spcPts val="500"/>
              </a:spcAft>
            </a:pPr>
            <a:r>
              <a:rPr sz="1200" b="0" i="0">
                <a:solidFill>
                  <a:srgbClr val="1C1C24"/>
                </a:solidFill>
                <a:latin typeface="Segoe UI"/>
              </a:rPr>
              <a:t>•  Saying REAL is mostly TEMPORAL (70.9%): the evidence for authenticity is consistent motion, not clean-looking frames.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"/>
          </a:xfrm>
          <a:prstGeom prst="rect">
            <a:avLst/>
          </a:prstGeom>
          <a:solidFill>
            <a:srgbClr val="2E6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74320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500"/>
              </a:spcAft>
            </a:pPr>
            <a:r>
              <a:rPr sz="1100" b="1" i="0">
                <a:solidFill>
                  <a:srgbClr val="2E6FD9"/>
                </a:solidFill>
                <a:latin typeface="Segoe UI"/>
              </a:rPr>
              <a:t>RESULT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48640"/>
            <a:ext cx="11057839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500"/>
              </a:spcAft>
            </a:pPr>
            <a:r>
              <a:rPr sz="2500" b="1" i="0">
                <a:solidFill>
                  <a:srgbClr val="1C1C24"/>
                </a:solidFill>
                <a:latin typeface="Segoe UI"/>
              </a:rPr>
              <a:t>Why it said YES (fake)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060704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500"/>
              </a:spcAft>
            </a:pPr>
            <a:r>
              <a:rPr sz="1300" b="0" i="0">
                <a:solidFill>
                  <a:srgbClr val="5A5F6E"/>
                </a:solidFill>
                <a:latin typeface="Segoe UI"/>
              </a:rPr>
              <a:t>The spatial branch broken into its four guided facial components</a:t>
            </a:r>
          </a:p>
        </p:txBody>
      </p:sp>
      <p:pic>
        <p:nvPicPr>
          <p:cNvPr id="6" name="Picture 5" descr="f4_facial_par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9996" y="1554480"/>
            <a:ext cx="9351703" cy="2971800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66928" y="4617720"/>
          <a:ext cx="11057836" cy="12573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98820"/>
                <a:gridCol w="2233906"/>
                <a:gridCol w="1340344"/>
                <a:gridCol w="2233906"/>
                <a:gridCol w="1340344"/>
                <a:gridCol w="2010516"/>
              </a:tblGrid>
              <a:tr h="25146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component</a:t>
                      </a:r>
                    </a:p>
                  </a:txBody>
                  <a:tcPr marL="54864" marR="54864" marT="9144" marB="9144">
                    <a:solidFill>
                      <a:srgbClr val="2E6F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FAKE contrib.</a:t>
                      </a:r>
                    </a:p>
                  </a:txBody>
                  <a:tcPr marL="54864" marR="54864" marT="9144" marB="9144">
                    <a:solidFill>
                      <a:srgbClr val="2E6F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share</a:t>
                      </a:r>
                    </a:p>
                  </a:txBody>
                  <a:tcPr marL="54864" marR="54864" marT="9144" marB="9144">
                    <a:solidFill>
                      <a:srgbClr val="2E6F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REAL contrib.</a:t>
                      </a:r>
                    </a:p>
                  </a:txBody>
                  <a:tcPr marL="54864" marR="54864" marT="9144" marB="9144">
                    <a:solidFill>
                      <a:srgbClr val="2E6F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share</a:t>
                      </a:r>
                    </a:p>
                  </a:txBody>
                  <a:tcPr marL="54864" marR="54864" marT="9144" marB="9144">
                    <a:solidFill>
                      <a:srgbClr val="2E6F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change (F−R)</a:t>
                      </a:r>
                    </a:p>
                  </a:txBody>
                  <a:tcPr marL="54864" marR="54864" marT="9144" marB="9144">
                    <a:solidFill>
                      <a:srgbClr val="2E6FD9"/>
                    </a:solidFill>
                  </a:tcPr>
                </a:tc>
              </a:tr>
              <a:tr h="25146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C1C24"/>
                          </a:solidFill>
                          <a:latin typeface="Segoe UI"/>
                        </a:rPr>
                        <a:t>eyes</a:t>
                      </a:r>
                    </a:p>
                  </a:txBody>
                  <a:tcPr marL="54864" marR="54864" marT="9144" marB="9144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24"/>
                          </a:solidFill>
                          <a:latin typeface="Segoe UI"/>
                        </a:rPr>
                        <a:t>+1.039</a:t>
                      </a:r>
                    </a:p>
                  </a:txBody>
                  <a:tcPr marL="54864" marR="54864" marT="9144" marB="9144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24"/>
                          </a:solidFill>
                          <a:latin typeface="Segoe UI"/>
                        </a:rPr>
                        <a:t>45.6%</a:t>
                      </a:r>
                    </a:p>
                  </a:txBody>
                  <a:tcPr marL="54864" marR="54864" marT="9144" marB="9144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24"/>
                          </a:solidFill>
                          <a:latin typeface="Segoe UI"/>
                        </a:rPr>
                        <a:t>+0.245</a:t>
                      </a:r>
                    </a:p>
                  </a:txBody>
                  <a:tcPr marL="54864" marR="54864" marT="9144" marB="9144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24"/>
                          </a:solidFill>
                          <a:latin typeface="Segoe UI"/>
                        </a:rPr>
                        <a:t>24.5%</a:t>
                      </a:r>
                    </a:p>
                  </a:txBody>
                  <a:tcPr marL="54864" marR="54864" marT="9144" marB="9144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24"/>
                          </a:solidFill>
                          <a:latin typeface="Segoe UI"/>
                        </a:rPr>
                        <a:t>+0.794</a:t>
                      </a:r>
                    </a:p>
                  </a:txBody>
                  <a:tcPr marL="54864" marR="54864" marT="9144" marB="9144">
                    <a:solidFill>
                      <a:srgbClr val="F2F4F8"/>
                    </a:solidFill>
                  </a:tcPr>
                </a:tc>
              </a:tr>
              <a:tr h="25146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C1C24"/>
                          </a:solidFill>
                          <a:latin typeface="Segoe UI"/>
                        </a:rPr>
                        <a:t>skin</a:t>
                      </a:r>
                    </a:p>
                  </a:txBody>
                  <a:tcPr marL="54864" marR="54864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24"/>
                          </a:solidFill>
                          <a:latin typeface="Segoe UI"/>
                        </a:rPr>
                        <a:t>+0.617</a:t>
                      </a:r>
                    </a:p>
                  </a:txBody>
                  <a:tcPr marL="54864" marR="54864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24"/>
                          </a:solidFill>
                          <a:latin typeface="Segoe UI"/>
                        </a:rPr>
                        <a:t>27.1%</a:t>
                      </a:r>
                    </a:p>
                  </a:txBody>
                  <a:tcPr marL="54864" marR="54864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24"/>
                          </a:solidFill>
                          <a:latin typeface="Segoe UI"/>
                        </a:rPr>
                        <a:t>+0.079</a:t>
                      </a:r>
                    </a:p>
                  </a:txBody>
                  <a:tcPr marL="54864" marR="54864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24"/>
                          </a:solidFill>
                          <a:latin typeface="Segoe UI"/>
                        </a:rPr>
                        <a:t>8.0%</a:t>
                      </a:r>
                    </a:p>
                  </a:txBody>
                  <a:tcPr marL="54864" marR="54864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24"/>
                          </a:solidFill>
                          <a:latin typeface="Segoe UI"/>
                        </a:rPr>
                        <a:t>+0.538</a:t>
                      </a:r>
                    </a:p>
                  </a:txBody>
                  <a:tcPr marL="54864" marR="54864" marT="9144" marB="9144">
                    <a:solidFill>
                      <a:srgbClr val="FFFFFF"/>
                    </a:solidFill>
                  </a:tcPr>
                </a:tc>
              </a:tr>
              <a:tr h="25146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C1C24"/>
                          </a:solidFill>
                          <a:latin typeface="Segoe UI"/>
                        </a:rPr>
                        <a:t>nose</a:t>
                      </a:r>
                    </a:p>
                  </a:txBody>
                  <a:tcPr marL="54864" marR="54864" marT="9144" marB="9144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24"/>
                          </a:solidFill>
                          <a:latin typeface="Segoe UI"/>
                        </a:rPr>
                        <a:t>+0.438</a:t>
                      </a:r>
                    </a:p>
                  </a:txBody>
                  <a:tcPr marL="54864" marR="54864" marT="9144" marB="9144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24"/>
                          </a:solidFill>
                          <a:latin typeface="Segoe UI"/>
                        </a:rPr>
                        <a:t>19.2%</a:t>
                      </a:r>
                    </a:p>
                  </a:txBody>
                  <a:tcPr marL="54864" marR="54864" marT="9144" marB="9144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24"/>
                          </a:solidFill>
                          <a:latin typeface="Segoe UI"/>
                        </a:rPr>
                        <a:t>-0.601</a:t>
                      </a:r>
                    </a:p>
                  </a:txBody>
                  <a:tcPr marL="54864" marR="54864" marT="9144" marB="9144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24"/>
                          </a:solidFill>
                          <a:latin typeface="Segoe UI"/>
                        </a:rPr>
                        <a:t>60.3%</a:t>
                      </a:r>
                    </a:p>
                  </a:txBody>
                  <a:tcPr marL="54864" marR="54864" marT="9144" marB="9144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24"/>
                          </a:solidFill>
                          <a:latin typeface="Segoe UI"/>
                        </a:rPr>
                        <a:t>+1.039</a:t>
                      </a:r>
                    </a:p>
                  </a:txBody>
                  <a:tcPr marL="54864" marR="54864" marT="9144" marB="9144">
                    <a:solidFill>
                      <a:srgbClr val="F2F4F8"/>
                    </a:solidFill>
                  </a:tcPr>
                </a:tc>
              </a:tr>
              <a:tr h="25146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C1C24"/>
                          </a:solidFill>
                          <a:latin typeface="Segoe UI"/>
                        </a:rPr>
                        <a:t>lips</a:t>
                      </a:r>
                    </a:p>
                  </a:txBody>
                  <a:tcPr marL="54864" marR="54864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24"/>
                          </a:solidFill>
                          <a:latin typeface="Segoe UI"/>
                        </a:rPr>
                        <a:t>+0.183</a:t>
                      </a:r>
                    </a:p>
                  </a:txBody>
                  <a:tcPr marL="54864" marR="54864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24"/>
                          </a:solidFill>
                          <a:latin typeface="Segoe UI"/>
                        </a:rPr>
                        <a:t>8.0%</a:t>
                      </a:r>
                    </a:p>
                  </a:txBody>
                  <a:tcPr marL="54864" marR="54864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24"/>
                          </a:solidFill>
                          <a:latin typeface="Segoe UI"/>
                        </a:rPr>
                        <a:t>+0.071</a:t>
                      </a:r>
                    </a:p>
                  </a:txBody>
                  <a:tcPr marL="54864" marR="54864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24"/>
                          </a:solidFill>
                          <a:latin typeface="Segoe UI"/>
                        </a:rPr>
                        <a:t>7.2%</a:t>
                      </a:r>
                    </a:p>
                  </a:txBody>
                  <a:tcPr marL="54864" marR="54864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24"/>
                          </a:solidFill>
                          <a:latin typeface="Segoe UI"/>
                        </a:rPr>
                        <a:t>+0.112</a:t>
                      </a:r>
                    </a:p>
                  </a:txBody>
                  <a:tcPr marL="54864" marR="54864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66928" y="5966459"/>
            <a:ext cx="11057839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6000"/>
              </a:lnSpc>
              <a:spcAft>
                <a:spcPts val="500"/>
              </a:spcAft>
            </a:pPr>
            <a:r>
              <a:rPr sz="1200" b="0" i="0">
                <a:solidFill>
                  <a:srgbClr val="1C1C24"/>
                </a:solidFill>
                <a:latin typeface="Segoe UI"/>
              </a:rPr>
              <a:t>•  MAIN CAUSE of the FAKE verdict: the EYES — 45.6% of the spatial evidence, then skin 27.1%.</a:t>
            </a:r>
          </a:p>
          <a:p>
            <a:pPr algn="l">
              <a:lnSpc>
                <a:spcPct val="126000"/>
              </a:lnSpc>
              <a:spcAft>
                <a:spcPts val="500"/>
              </a:spcAft>
            </a:pPr>
            <a:r>
              <a:rPr sz="1200" b="0" i="0">
                <a:solidFill>
                  <a:srgbClr val="1C1C24"/>
                </a:solidFill>
                <a:latin typeface="Segoe UI"/>
              </a:rPr>
              <a:t>•  In the real video the nose votes REAL (-0.601); after the swap every component turns towards FAKE, the nose shifting most (+1.039).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"/>
          </a:xfrm>
          <a:prstGeom prst="rect">
            <a:avLst/>
          </a:prstGeom>
          <a:solidFill>
            <a:srgbClr val="2E6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74320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500"/>
              </a:spcAft>
            </a:pPr>
            <a:r>
              <a:rPr sz="1100" b="1" i="0">
                <a:solidFill>
                  <a:srgbClr val="2E6FD9"/>
                </a:solidFill>
                <a:latin typeface="Segoe UI"/>
              </a:rPr>
              <a:t>RESULT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48640"/>
            <a:ext cx="11057839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500"/>
              </a:spcAft>
            </a:pPr>
            <a:r>
              <a:rPr sz="2500" b="1" i="0">
                <a:solidFill>
                  <a:srgbClr val="1C1C24"/>
                </a:solidFill>
                <a:latin typeface="Segoe UI"/>
              </a:rPr>
              <a:t>Where in the face the temporal evidence lies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060704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500"/>
              </a:spcAft>
            </a:pPr>
            <a:r>
              <a:rPr sz="1300" b="0" i="0">
                <a:solidFill>
                  <a:srgbClr val="5A5F6E"/>
                </a:solidFill>
                <a:latin typeface="Segoe UI"/>
              </a:rPr>
              <a:t>The temporal branch output is a 16×16 grid, so it maps straight back onto the face</a:t>
            </a:r>
          </a:p>
        </p:txBody>
      </p:sp>
      <p:pic>
        <p:nvPicPr>
          <p:cNvPr id="6" name="Picture 5" descr="f5_temporal_map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57278" y="1554480"/>
            <a:ext cx="9277138" cy="30175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4700016"/>
            <a:ext cx="5349240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500"/>
              </a:spcAft>
            </a:pPr>
            <a:r>
              <a:rPr sz="1150" b="0" i="0">
                <a:solidFill>
                  <a:srgbClr val="1C1C24"/>
                </a:solidFill>
                <a:latin typeface="Segoe UI"/>
              </a:rPr>
              <a:t>Reading the maps:</a:t>
            </a:r>
          </a:p>
          <a:p>
            <a:pPr algn="l">
              <a:lnSpc>
                <a:spcPct val="124000"/>
              </a:lnSpc>
              <a:spcAft>
                <a:spcPts val="500"/>
              </a:spcAft>
            </a:pPr>
            <a:r>
              <a:rPr sz="1150" b="0" i="0">
                <a:solidFill>
                  <a:srgbClr val="1C1C24"/>
                </a:solidFill>
                <a:latin typeface="Segoe UI"/>
              </a:rPr>
              <a:t>•  red = this patch pushed towards FAKE, blue = towards REAL;</a:t>
            </a:r>
          </a:p>
          <a:p>
            <a:pPr algn="l">
              <a:lnSpc>
                <a:spcPct val="124000"/>
              </a:lnSpc>
              <a:spcAft>
                <a:spcPts val="500"/>
              </a:spcAft>
            </a:pPr>
            <a:r>
              <a:rPr sz="1150" b="0" i="0">
                <a:solidFill>
                  <a:srgbClr val="1C1C24"/>
                </a:solidFill>
                <a:latin typeface="Segoe UI"/>
              </a:rPr>
              <a:t>•  green dots are the averaged 68 facial landmarks;</a:t>
            </a:r>
          </a:p>
          <a:p>
            <a:pPr algn="l">
              <a:lnSpc>
                <a:spcPct val="124000"/>
              </a:lnSpc>
              <a:spcAft>
                <a:spcPts val="500"/>
              </a:spcAft>
            </a:pPr>
            <a:r>
              <a:rPr sz="1150" b="0" i="0">
                <a:solidFill>
                  <a:srgbClr val="1C1C24"/>
                </a:solidFill>
                <a:latin typeface="Segoe UI"/>
              </a:rPr>
              <a:t>•  the right panel is FAKE minus REAL — exactly where the swap created new evidence.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172200" y="4700016"/>
          <a:ext cx="5449822" cy="1234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9051"/>
                <a:gridCol w="1051720"/>
                <a:gridCol w="1051720"/>
                <a:gridCol w="1147331"/>
              </a:tblGrid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zone (area-normalised)</a:t>
                      </a:r>
                    </a:p>
                  </a:txBody>
                  <a:tcPr marL="54864" marR="54864" marT="9144" marB="9144">
                    <a:solidFill>
                      <a:srgbClr val="2E6F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REAL</a:t>
                      </a:r>
                    </a:p>
                  </a:txBody>
                  <a:tcPr marL="54864" marR="54864" marT="9144" marB="9144">
                    <a:solidFill>
                      <a:srgbClr val="2E6F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FAKE</a:t>
                      </a:r>
                    </a:p>
                  </a:txBody>
                  <a:tcPr marL="54864" marR="54864" marT="9144" marB="9144">
                    <a:solidFill>
                      <a:srgbClr val="2E6F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change</a:t>
                      </a:r>
                    </a:p>
                  </a:txBody>
                  <a:tcPr marL="54864" marR="54864" marT="9144" marB="9144">
                    <a:solidFill>
                      <a:srgbClr val="2E6FD9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C1C24"/>
                          </a:solidFill>
                          <a:latin typeface="Segoe UI"/>
                        </a:rPr>
                        <a:t>eyes</a:t>
                      </a:r>
                    </a:p>
                  </a:txBody>
                  <a:tcPr marL="54864" marR="54864" marT="9144" marB="9144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24"/>
                          </a:solidFill>
                          <a:latin typeface="Segoe UI"/>
                        </a:rPr>
                        <a:t>0.0150</a:t>
                      </a:r>
                    </a:p>
                  </a:txBody>
                  <a:tcPr marL="54864" marR="54864" marT="9144" marB="9144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24"/>
                          </a:solidFill>
                          <a:latin typeface="Segoe UI"/>
                        </a:rPr>
                        <a:t>0.0399</a:t>
                      </a:r>
                    </a:p>
                  </a:txBody>
                  <a:tcPr marL="54864" marR="54864" marT="9144" marB="9144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24"/>
                          </a:solidFill>
                          <a:latin typeface="Segoe UI"/>
                        </a:rPr>
                        <a:t>+0.0250</a:t>
                      </a:r>
                    </a:p>
                  </a:txBody>
                  <a:tcPr marL="54864" marR="54864" marT="9144" marB="9144">
                    <a:solidFill>
                      <a:srgbClr val="F2F4F8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C1C24"/>
                          </a:solidFill>
                          <a:latin typeface="Segoe UI"/>
                        </a:rPr>
                        <a:t>nose</a:t>
                      </a:r>
                    </a:p>
                  </a:txBody>
                  <a:tcPr marL="54864" marR="54864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24"/>
                          </a:solidFill>
                          <a:latin typeface="Segoe UI"/>
                        </a:rPr>
                        <a:t>0.0342</a:t>
                      </a:r>
                    </a:p>
                  </a:txBody>
                  <a:tcPr marL="54864" marR="54864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24"/>
                          </a:solidFill>
                          <a:latin typeface="Segoe UI"/>
                        </a:rPr>
                        <a:t>0.0539</a:t>
                      </a:r>
                    </a:p>
                  </a:txBody>
                  <a:tcPr marL="54864" marR="54864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24"/>
                          </a:solidFill>
                          <a:latin typeface="Segoe UI"/>
                        </a:rPr>
                        <a:t>+0.0197</a:t>
                      </a:r>
                    </a:p>
                  </a:txBody>
                  <a:tcPr marL="54864" marR="54864" marT="9144" marB="9144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C1C24"/>
                          </a:solidFill>
                          <a:latin typeface="Segoe UI"/>
                        </a:rPr>
                        <a:t>mouth</a:t>
                      </a:r>
                    </a:p>
                  </a:txBody>
                  <a:tcPr marL="54864" marR="54864" marT="9144" marB="9144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24"/>
                          </a:solidFill>
                          <a:latin typeface="Segoe UI"/>
                        </a:rPr>
                        <a:t>0.0244</a:t>
                      </a:r>
                    </a:p>
                  </a:txBody>
                  <a:tcPr marL="54864" marR="54864" marT="9144" marB="9144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24"/>
                          </a:solidFill>
                          <a:latin typeface="Segoe UI"/>
                        </a:rPr>
                        <a:t>0.0237</a:t>
                      </a:r>
                    </a:p>
                  </a:txBody>
                  <a:tcPr marL="54864" marR="54864" marT="9144" marB="9144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24"/>
                          </a:solidFill>
                          <a:latin typeface="Segoe UI"/>
                        </a:rPr>
                        <a:t>-0.0007</a:t>
                      </a:r>
                    </a:p>
                  </a:txBody>
                  <a:tcPr marL="54864" marR="54864" marT="9144" marB="9144">
                    <a:solidFill>
                      <a:srgbClr val="F2F4F8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C1C24"/>
                          </a:solidFill>
                          <a:latin typeface="Segoe UI"/>
                        </a:rPr>
                        <a:t>jaw / contour</a:t>
                      </a:r>
                    </a:p>
                  </a:txBody>
                  <a:tcPr marL="54864" marR="54864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24"/>
                          </a:solidFill>
                          <a:latin typeface="Segoe UI"/>
                        </a:rPr>
                        <a:t>0.0488</a:t>
                      </a:r>
                    </a:p>
                  </a:txBody>
                  <a:tcPr marL="54864" marR="54864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24"/>
                          </a:solidFill>
                          <a:latin typeface="Segoe UI"/>
                        </a:rPr>
                        <a:t>0.0306</a:t>
                      </a:r>
                    </a:p>
                  </a:txBody>
                  <a:tcPr marL="54864" marR="54864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24"/>
                          </a:solidFill>
                          <a:latin typeface="Segoe UI"/>
                        </a:rPr>
                        <a:t>-0.0182</a:t>
                      </a:r>
                    </a:p>
                  </a:txBody>
                  <a:tcPr marL="54864" marR="54864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172200" y="6025896"/>
            <a:ext cx="5449824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500"/>
              </a:spcAft>
            </a:pPr>
            <a:r>
              <a:rPr sz="1150" b="0" i="0">
                <a:solidFill>
                  <a:srgbClr val="1C1C24"/>
                </a:solidFill>
                <a:latin typeface="Segoe UI"/>
              </a:rPr>
              <a:t>Biggest gains after the swap: eyes, nose, mouth — the same inner-face region the swap replaced.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"/>
          </a:xfrm>
          <a:prstGeom prst="rect">
            <a:avLst/>
          </a:prstGeom>
          <a:solidFill>
            <a:srgbClr val="2E6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74320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500"/>
              </a:spcAft>
            </a:pPr>
            <a:r>
              <a:rPr sz="1100" b="1" i="0">
                <a:solidFill>
                  <a:srgbClr val="2E6FD9"/>
                </a:solidFill>
                <a:latin typeface="Segoe UI"/>
              </a:rPr>
              <a:t>RESULT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48640"/>
            <a:ext cx="11057839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500"/>
              </a:spcAft>
            </a:pPr>
            <a:r>
              <a:rPr sz="2500" b="1" i="0">
                <a:solidFill>
                  <a:srgbClr val="1C1C24"/>
                </a:solidFill>
                <a:latin typeface="Segoe UI"/>
              </a:rPr>
              <a:t>Zone attribution and component attention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060704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500"/>
              </a:spcAft>
            </a:pPr>
            <a:r>
              <a:rPr sz="1300" b="0" i="0">
                <a:solidFill>
                  <a:srgbClr val="5A5F6E"/>
                </a:solidFill>
                <a:latin typeface="Segoe UI"/>
              </a:rPr>
              <a:t>Area-normalising removes the advantage of physically large regions</a:t>
            </a:r>
          </a:p>
        </p:txBody>
      </p:sp>
      <p:pic>
        <p:nvPicPr>
          <p:cNvPr id="6" name="Picture 5" descr="f6_zon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4835" y="1554480"/>
            <a:ext cx="7462024" cy="2514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4178808"/>
            <a:ext cx="2057400" cy="2377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500"/>
              </a:spcAft>
            </a:pPr>
            <a:r>
              <a:rPr sz="1100" b="0" i="0">
                <a:solidFill>
                  <a:srgbClr val="1C1C24"/>
                </a:solidFill>
                <a:latin typeface="Segoe UI"/>
              </a:rPr>
              <a:t>Sanity check on FCG:</a:t>
            </a:r>
          </a:p>
          <a:p>
            <a:pPr algn="l">
              <a:lnSpc>
                <a:spcPct val="122000"/>
              </a:lnSpc>
              <a:spcAft>
                <a:spcPts val="500"/>
              </a:spcAft>
            </a:pPr>
            <a:r>
              <a:rPr sz="1100" b="0" i="0">
                <a:solidFill>
                  <a:srgbClr val="1C1C24"/>
                </a:solidFill>
                <a:latin typeface="Segoe UI"/>
              </a:rPr>
              <a:t>•  each of the four queries lands on its own region,</a:t>
            </a:r>
          </a:p>
          <a:p>
            <a:pPr algn="l">
              <a:lnSpc>
                <a:spcPct val="122000"/>
              </a:lnSpc>
              <a:spcAft>
                <a:spcPts val="500"/>
              </a:spcAft>
            </a:pPr>
            <a:r>
              <a:rPr sz="1100" b="0" i="0">
                <a:solidFill>
                  <a:srgbClr val="1C1C24"/>
                </a:solidFill>
                <a:latin typeface="Segoe UI"/>
              </a:rPr>
              <a:t>•  so the component percentages are anatomically meaningful,</a:t>
            </a:r>
          </a:p>
          <a:p>
            <a:pPr algn="l">
              <a:lnSpc>
                <a:spcPct val="122000"/>
              </a:lnSpc>
              <a:spcAft>
                <a:spcPts val="500"/>
              </a:spcAft>
            </a:pPr>
            <a:r>
              <a:rPr sz="1100" b="0" i="0">
                <a:solidFill>
                  <a:srgbClr val="1C1C24"/>
                </a:solidFill>
                <a:latin typeface="Segoe UI"/>
              </a:rPr>
              <a:t>•  not four anonymous channels.</a:t>
            </a:r>
          </a:p>
        </p:txBody>
      </p:sp>
      <p:pic>
        <p:nvPicPr>
          <p:cNvPr id="8" name="Picture 7" descr="f8_atten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91976" y="4178808"/>
            <a:ext cx="4426991" cy="2386583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"/>
          </a:xfrm>
          <a:prstGeom prst="rect">
            <a:avLst/>
          </a:prstGeom>
          <a:solidFill>
            <a:srgbClr val="2E6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74320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500"/>
              </a:spcAft>
            </a:pPr>
            <a:r>
              <a:rPr sz="1100" b="1" i="0">
                <a:solidFill>
                  <a:srgbClr val="2E6FD9"/>
                </a:solidFill>
                <a:latin typeface="Segoe UI"/>
              </a:rPr>
              <a:t>RESULT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48640"/>
            <a:ext cx="11057839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500"/>
              </a:spcAft>
            </a:pPr>
            <a:r>
              <a:rPr sz="2500" b="1" i="0">
                <a:solidFill>
                  <a:srgbClr val="1C1C24"/>
                </a:solidFill>
                <a:latin typeface="Segoe UI"/>
              </a:rPr>
              <a:t>Is one branch enough?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060704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500"/>
              </a:spcAft>
            </a:pPr>
            <a:r>
              <a:rPr sz="1300" b="0" i="0">
                <a:solidFill>
                  <a:srgbClr val="5A5F6E"/>
                </a:solidFill>
                <a:latin typeface="Segoe UI"/>
              </a:rPr>
              <a:t>Inference-time ablation of the released checkpoint</a:t>
            </a:r>
          </a:p>
        </p:txBody>
      </p:sp>
      <p:pic>
        <p:nvPicPr>
          <p:cNvPr id="6" name="Picture 5" descr="f9_counterfactu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554480"/>
            <a:ext cx="7315200" cy="2414986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092440" y="1554480"/>
            <a:ext cx="3529584" cy="1170432"/>
          </a:xfrm>
          <a:prstGeom prst="roundRect">
            <a:avLst/>
          </a:prstGeom>
          <a:solidFill>
            <a:srgbClr val="F2F4F8"/>
          </a:solidFill>
          <a:ln w="15240">
            <a:solidFill>
              <a:srgbClr val="1E7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75319" y="1682496"/>
            <a:ext cx="3163824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500"/>
              </a:spcAft>
            </a:pPr>
            <a:r>
              <a:rPr sz="1000" b="1" i="0">
                <a:solidFill>
                  <a:srgbClr val="5A5F6E"/>
                </a:solidFill>
                <a:latin typeface="Segoe UI"/>
              </a:rPr>
              <a:t>FAKE SAMPLE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75319" y="1920240"/>
            <a:ext cx="3163824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500"/>
              </a:spcAft>
            </a:pPr>
            <a:r>
              <a:rPr sz="1600" b="1" i="0">
                <a:solidFill>
                  <a:srgbClr val="1E7A3C"/>
                </a:solidFill>
                <a:latin typeface="Segoe UI"/>
              </a:rPr>
              <a:t>both sufficient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75319" y="2359152"/>
            <a:ext cx="3163824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500"/>
              </a:spcAft>
            </a:pPr>
            <a:r>
              <a:rPr sz="1050" b="0" i="0">
                <a:solidFill>
                  <a:srgbClr val="1C1C24"/>
                </a:solidFill>
                <a:latin typeface="Segoe UI"/>
              </a:rPr>
              <a:t>S alone 0.912  ·  T alone 0.908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92440" y="2889504"/>
            <a:ext cx="3529584" cy="1170432"/>
          </a:xfrm>
          <a:prstGeom prst="roundRect">
            <a:avLst/>
          </a:prstGeom>
          <a:solidFill>
            <a:srgbClr val="F2F4F8"/>
          </a:solidFill>
          <a:ln w="15240">
            <a:solidFill>
              <a:srgbClr val="2E6F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75319" y="3017520"/>
            <a:ext cx="3163824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500"/>
              </a:spcAft>
            </a:pPr>
            <a:r>
              <a:rPr sz="1000" b="1" i="0">
                <a:solidFill>
                  <a:srgbClr val="5A5F6E"/>
                </a:solidFill>
                <a:latin typeface="Segoe UI"/>
              </a:rPr>
              <a:t>REAL SAMPLE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75319" y="3255264"/>
            <a:ext cx="3163824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500"/>
              </a:spcAft>
            </a:pPr>
            <a:r>
              <a:rPr sz="1600" b="1" i="0">
                <a:solidFill>
                  <a:srgbClr val="2E6FD9"/>
                </a:solidFill>
                <a:latin typeface="Segoe UI"/>
              </a:rPr>
              <a:t>both sufficient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75319" y="3694176"/>
            <a:ext cx="3163824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500"/>
              </a:spcAft>
            </a:pPr>
            <a:r>
              <a:rPr sz="1050" b="0" i="0">
                <a:solidFill>
                  <a:srgbClr val="1C1C24"/>
                </a:solidFill>
                <a:latin typeface="Segoe UI"/>
              </a:rPr>
              <a:t>S alone 0.469  ·  T alone 0.411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92440" y="4224528"/>
            <a:ext cx="3529584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500"/>
              </a:spcAft>
            </a:pPr>
            <a:r>
              <a:rPr sz="1150" b="0" i="0">
                <a:solidFill>
                  <a:srgbClr val="1C1C24"/>
                </a:solidFill>
                <a:latin typeface="Segoe UI"/>
              </a:rPr>
              <a:t>Per-clip branch agreement:</a:t>
            </a:r>
          </a:p>
          <a:p>
            <a:pPr algn="l">
              <a:lnSpc>
                <a:spcPct val="122000"/>
              </a:lnSpc>
              <a:spcAft>
                <a:spcPts val="500"/>
              </a:spcAft>
            </a:pPr>
            <a:r>
              <a:rPr sz="1150" b="0" i="0">
                <a:solidFill>
                  <a:srgbClr val="1C1C24"/>
                </a:solidFill>
                <a:latin typeface="Segoe UI"/>
              </a:rPr>
              <a:t>•  fake: 100%     - real: 87%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4134058"/>
            <a:ext cx="73152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6000"/>
              </a:lnSpc>
              <a:spcAft>
                <a:spcPts val="500"/>
              </a:spcAft>
            </a:pPr>
            <a:r>
              <a:rPr sz="1150" b="0" i="0">
                <a:solidFill>
                  <a:srgbClr val="1C1C24"/>
                </a:solidFill>
                <a:latin typeface="Segoe UI"/>
              </a:rPr>
              <a:t>•  On clean video either branch alone already reaches the correct verdict — the two are redundant here, not complementary.</a:t>
            </a:r>
          </a:p>
          <a:p>
            <a:pPr algn="l">
              <a:lnSpc>
                <a:spcPct val="126000"/>
              </a:lnSpc>
              <a:spcAft>
                <a:spcPts val="500"/>
              </a:spcAft>
            </a:pPr>
            <a:r>
              <a:rPr sz="1150" b="0" i="0">
                <a:solidFill>
                  <a:srgbClr val="1C1C24"/>
                </a:solidFill>
                <a:latin typeface="Segoe UI"/>
              </a:rPr>
              <a:t>•  Fusion still adds confidence: the fake rises 0.91 → 0.93.</a:t>
            </a:r>
          </a:p>
          <a:p>
            <a:pPr algn="l">
              <a:lnSpc>
                <a:spcPct val="126000"/>
              </a:lnSpc>
              <a:spcAft>
                <a:spcPts val="500"/>
              </a:spcAft>
            </a:pPr>
            <a:r>
              <a:rPr sz="1150" b="0" i="0">
                <a:solidFill>
                  <a:srgbClr val="1C1C24"/>
                </a:solidFill>
                <a:latin typeface="Segoe UI"/>
              </a:rPr>
              <a:t>•  That redundancy is exactly what breaks under degradation (next slide).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"/>
          </a:xfrm>
          <a:prstGeom prst="rect">
            <a:avLst/>
          </a:prstGeom>
          <a:solidFill>
            <a:srgbClr val="2E6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74320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500"/>
              </a:spcAft>
            </a:pPr>
            <a:r>
              <a:rPr sz="1100" b="1" i="0">
                <a:solidFill>
                  <a:srgbClr val="2E6FD9"/>
                </a:solidFill>
                <a:latin typeface="Segoe UI"/>
              </a:rPr>
              <a:t>RESULT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48640"/>
            <a:ext cx="11057839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500"/>
              </a:spcAft>
            </a:pPr>
            <a:r>
              <a:rPr sz="2500" b="1" i="0">
                <a:solidFill>
                  <a:srgbClr val="1C1C24"/>
                </a:solidFill>
                <a:latin typeface="Segoe UI"/>
              </a:rPr>
              <a:t>Where in the frozen encoder the evidence comes from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060704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500"/>
              </a:spcAft>
            </a:pPr>
            <a:r>
              <a:rPr sz="1300" b="0" i="0">
                <a:solidFill>
                  <a:srgbClr val="5A5F6E"/>
                </a:solidFill>
                <a:latin typeface="Segoe UI"/>
              </a:rPr>
              <a:t>Per-layer contributions across the 24 CLIP ViT-L/14 layers</a:t>
            </a:r>
          </a:p>
        </p:txBody>
      </p:sp>
      <p:pic>
        <p:nvPicPr>
          <p:cNvPr id="6" name="Picture 5" descr="f7_lay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9993" y="1554480"/>
            <a:ext cx="10211707" cy="32918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5010912"/>
            <a:ext cx="11057839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200" b="0" i="0">
                <a:solidFill>
                  <a:srgbClr val="1C1C24"/>
                </a:solidFill>
                <a:latin typeface="Segoe UI"/>
              </a:rPr>
              <a:t>•  Spatial evidence concentrates in DEEP layers (top for the fake: 19, 17, 20) — semantic, identity-level features.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200" b="0" i="0">
                <a:solidFill>
                  <a:srgbClr val="1C1C24"/>
                </a:solidFill>
                <a:latin typeface="Segoe UI"/>
              </a:rPr>
              <a:t>•  Temporal evidence also draws on SHALLOW layers (top: 4, 18, 8) — low-level texture and motion cues.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200" b="0" i="0">
                <a:solidFill>
                  <a:srgbClr val="1C1C24"/>
                </a:solidFill>
                <a:latin typeface="Segoe UI"/>
              </a:rPr>
              <a:t>•  This is why a frozen backbone suffices: the two branches read genuinely different depths of the same encoder, which is the paper's core design claim.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"/>
          </a:xfrm>
          <a:prstGeom prst="rect">
            <a:avLst/>
          </a:prstGeom>
          <a:solidFill>
            <a:srgbClr val="2E6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74320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500"/>
              </a:spcAft>
            </a:pPr>
            <a:r>
              <a:rPr sz="1100" b="1" i="0">
                <a:solidFill>
                  <a:srgbClr val="2E6FD9"/>
                </a:solidFill>
                <a:latin typeface="Segoe UI"/>
              </a:rPr>
              <a:t>RESULT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48640"/>
            <a:ext cx="11057839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500"/>
              </a:spcAft>
            </a:pPr>
            <a:r>
              <a:rPr sz="2500" b="1" i="0">
                <a:solidFill>
                  <a:srgbClr val="1C1C24"/>
                </a:solidFill>
                <a:latin typeface="Segoe UI"/>
              </a:rPr>
              <a:t>Stress test on the authors' own protocol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060704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500"/>
              </a:spcAft>
            </a:pPr>
            <a:r>
              <a:rPr sz="1300" b="0" i="0">
                <a:solidFill>
                  <a:srgbClr val="5A5F6E"/>
                </a:solidFill>
                <a:latin typeface="Segoe UI"/>
              </a:rPr>
              <a:t>7 perturbation types × 3 severity levels, same sample pair</a:t>
            </a:r>
          </a:p>
        </p:txBody>
      </p:sp>
      <p:pic>
        <p:nvPicPr>
          <p:cNvPr id="6" name="Picture 5" descr="f10_robustne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3679" y="1554480"/>
            <a:ext cx="9764335" cy="306324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66928" y="4745736"/>
            <a:ext cx="2670048" cy="1115568"/>
          </a:xfrm>
          <a:prstGeom prst="roundRect">
            <a:avLst/>
          </a:prstGeom>
          <a:solidFill>
            <a:srgbClr val="F2F4F8"/>
          </a:solidFill>
          <a:ln w="15240">
            <a:solidFill>
              <a:srgbClr val="B32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4873752"/>
            <a:ext cx="2304288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500"/>
              </a:spcAft>
            </a:pPr>
            <a:r>
              <a:rPr sz="1000" b="1" i="0">
                <a:solidFill>
                  <a:srgbClr val="5A5F6E"/>
                </a:solidFill>
                <a:latin typeface="Segoe UI"/>
              </a:rPr>
              <a:t>FALSE POSITIVES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5111496"/>
            <a:ext cx="2304288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500"/>
              </a:spcAft>
            </a:pPr>
            <a:r>
              <a:rPr sz="1700" b="1" i="0">
                <a:solidFill>
                  <a:srgbClr val="B32A2A"/>
                </a:solidFill>
                <a:latin typeface="Segoe UI"/>
              </a:rPr>
              <a:t>12 / 21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5550408"/>
            <a:ext cx="2304288" cy="20116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500"/>
              </a:spcAft>
            </a:pPr>
            <a:r>
              <a:rPr sz="1050" b="0" i="0">
                <a:solidFill>
                  <a:srgbClr val="1C1C24"/>
                </a:solidFill>
                <a:latin typeface="Segoe UI"/>
              </a:rPr>
              <a:t>REAL called FAKE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64992" y="4745736"/>
            <a:ext cx="2670048" cy="1115568"/>
          </a:xfrm>
          <a:prstGeom prst="roundRect">
            <a:avLst/>
          </a:prstGeom>
          <a:solidFill>
            <a:srgbClr val="F2F4F8"/>
          </a:solidFill>
          <a:ln w="15240">
            <a:solidFill>
              <a:srgbClr val="D962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47872" y="4873752"/>
            <a:ext cx="2304288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500"/>
              </a:spcAft>
            </a:pPr>
            <a:r>
              <a:rPr sz="1000" b="1" i="0">
                <a:solidFill>
                  <a:srgbClr val="5A5F6E"/>
                </a:solidFill>
                <a:latin typeface="Segoe UI"/>
              </a:rPr>
              <a:t>FALSE NEGATIVES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47872" y="5111496"/>
            <a:ext cx="2304288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500"/>
              </a:spcAft>
            </a:pPr>
            <a:r>
              <a:rPr sz="1700" b="1" i="0">
                <a:solidFill>
                  <a:srgbClr val="D9622E"/>
                </a:solidFill>
                <a:latin typeface="Segoe UI"/>
              </a:rPr>
              <a:t>2 / 21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47872" y="5550408"/>
            <a:ext cx="2304288" cy="20116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500"/>
              </a:spcAft>
            </a:pPr>
            <a:r>
              <a:rPr sz="1050" b="0" i="0">
                <a:solidFill>
                  <a:srgbClr val="1C1C24"/>
                </a:solidFill>
                <a:latin typeface="Segoe UI"/>
              </a:rPr>
              <a:t>FAKE called REAL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63056" y="4745736"/>
            <a:ext cx="2670048" cy="1115568"/>
          </a:xfrm>
          <a:prstGeom prst="roundRect">
            <a:avLst/>
          </a:prstGeom>
          <a:solidFill>
            <a:srgbClr val="F2F4F8"/>
          </a:solidFill>
          <a:ln w="15240">
            <a:solidFill>
              <a:srgbClr val="B32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45936" y="4873752"/>
            <a:ext cx="2304288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500"/>
              </a:spcAft>
            </a:pPr>
            <a:r>
              <a:rPr sz="1000" b="1" i="0">
                <a:solidFill>
                  <a:srgbClr val="5A5F6E"/>
                </a:solidFill>
                <a:latin typeface="Segoe UI"/>
              </a:rPr>
              <a:t>BLUR / COMPRESSION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45936" y="5111496"/>
            <a:ext cx="2304288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500"/>
              </a:spcAft>
            </a:pPr>
            <a:r>
              <a:rPr sz="1700" b="1" i="0">
                <a:solidFill>
                  <a:srgbClr val="B32A2A"/>
                </a:solidFill>
                <a:latin typeface="Segoe UI"/>
              </a:rPr>
              <a:t>always wrong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45936" y="5550408"/>
            <a:ext cx="2304288" cy="20116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500"/>
              </a:spcAft>
            </a:pPr>
            <a:r>
              <a:rPr sz="1050" b="0" i="0">
                <a:solidFill>
                  <a:srgbClr val="1C1C24"/>
                </a:solidFill>
                <a:latin typeface="Segoe UI"/>
              </a:rPr>
              <a:t>GB, JPEG, VC at every level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951976" y="4745736"/>
            <a:ext cx="2670048" cy="1115568"/>
          </a:xfrm>
          <a:prstGeom prst="roundRect">
            <a:avLst/>
          </a:prstGeom>
          <a:solidFill>
            <a:srgbClr val="F2F4F8"/>
          </a:solidFill>
          <a:ln w="15240">
            <a:solidFill>
              <a:srgbClr val="1E7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34855" y="4873752"/>
            <a:ext cx="2304288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500"/>
              </a:spcAft>
            </a:pPr>
            <a:r>
              <a:rPr sz="1000" b="1" i="0">
                <a:solidFill>
                  <a:srgbClr val="5A5F6E"/>
                </a:solidFill>
                <a:latin typeface="Segoe UI"/>
              </a:rPr>
              <a:t>BLOCK NOISE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34855" y="5111496"/>
            <a:ext cx="2304288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500"/>
              </a:spcAft>
            </a:pPr>
            <a:r>
              <a:rPr sz="1700" b="1" i="0">
                <a:solidFill>
                  <a:srgbClr val="1E7A3C"/>
                </a:solidFill>
                <a:latin typeface="Segoe UI"/>
              </a:rPr>
              <a:t>fully robust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34855" y="5550408"/>
            <a:ext cx="2304288" cy="20116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500"/>
              </a:spcAft>
            </a:pPr>
            <a:r>
              <a:rPr sz="1050" b="0" i="0">
                <a:solidFill>
                  <a:srgbClr val="1C1C24"/>
                </a:solidFill>
                <a:latin typeface="Segoe UI"/>
              </a:rPr>
              <a:t>BW correct at all levels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5989320"/>
            <a:ext cx="11057839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6000"/>
              </a:lnSpc>
              <a:spcAft>
                <a:spcPts val="500"/>
              </a:spcAft>
            </a:pPr>
            <a:r>
              <a:rPr sz="1150" b="0" i="0">
                <a:solidFill>
                  <a:srgbClr val="1C1C24"/>
                </a:solidFill>
                <a:latin typeface="Segoe UI"/>
              </a:rPr>
              <a:t>•  The failure is strongly ASYMMETRIC: degradation pushes scores UP, so the model mistakes low quality for manipulation.</a:t>
            </a:r>
          </a:p>
          <a:p>
            <a:pPr algn="l">
              <a:lnSpc>
                <a:spcPct val="126000"/>
              </a:lnSpc>
              <a:spcAft>
                <a:spcPts val="500"/>
              </a:spcAft>
            </a:pPr>
            <a:r>
              <a:rPr sz="1150" b="0" i="0">
                <a:solidFill>
                  <a:srgbClr val="1C1C24"/>
                </a:solidFill>
                <a:latin typeface="Segoe UI"/>
              </a:rPr>
              <a:t>•  Blur, JPEG-style resampling and H.264 compression flip the real video at every severity; Gaussian noise does the opposite and hides the fake.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"/>
          </a:xfrm>
          <a:prstGeom prst="rect">
            <a:avLst/>
          </a:prstGeom>
          <a:solidFill>
            <a:srgbClr val="2E6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74320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500"/>
              </a:spcAft>
            </a:pPr>
            <a:r>
              <a:rPr sz="1100" b="1" i="0">
                <a:solidFill>
                  <a:srgbClr val="2E6FD9"/>
                </a:solidFill>
                <a:latin typeface="Segoe UI"/>
              </a:rPr>
              <a:t>RESULT 8 · TABLE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48640"/>
            <a:ext cx="11057839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500"/>
              </a:spcAft>
            </a:pPr>
            <a:r>
              <a:rPr sz="2500" b="1" i="0">
                <a:solidFill>
                  <a:srgbClr val="1C1C24"/>
                </a:solidFill>
                <a:latin typeface="Segoe UI"/>
              </a:rPr>
              <a:t>Robustness detail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060704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500"/>
              </a:spcAft>
            </a:pPr>
            <a:r>
              <a:rPr sz="1300" b="0" i="0">
                <a:solidFill>
                  <a:srgbClr val="5A5F6E"/>
                </a:solidFill>
                <a:latin typeface="Segoe UI"/>
              </a:rPr>
              <a:t>Per-condition verdicts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554480"/>
          <a:ext cx="11057836" cy="43113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51383"/>
                <a:gridCol w="1170830"/>
                <a:gridCol w="1431014"/>
                <a:gridCol w="1431014"/>
                <a:gridCol w="1431014"/>
                <a:gridCol w="1431014"/>
                <a:gridCol w="2211567"/>
              </a:tblGrid>
              <a:tr h="187452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Segoe UI"/>
                        </a:rPr>
                        <a:t>condition</a:t>
                      </a:r>
                    </a:p>
                  </a:txBody>
                  <a:tcPr marL="54864" marR="54864" marT="9144" marB="9144">
                    <a:solidFill>
                      <a:srgbClr val="2E6F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Segoe UI"/>
                        </a:rPr>
                        <a:t>param</a:t>
                      </a:r>
                    </a:p>
                  </a:txBody>
                  <a:tcPr marL="54864" marR="54864" marT="9144" marB="9144">
                    <a:solidFill>
                      <a:srgbClr val="2E6F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Segoe UI"/>
                        </a:rPr>
                        <a:t>REAL P</a:t>
                      </a:r>
                    </a:p>
                  </a:txBody>
                  <a:tcPr marL="54864" marR="54864" marT="9144" marB="9144">
                    <a:solidFill>
                      <a:srgbClr val="2E6F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Segoe UI"/>
                        </a:rPr>
                        <a:t>verdict</a:t>
                      </a:r>
                    </a:p>
                  </a:txBody>
                  <a:tcPr marL="54864" marR="54864" marT="9144" marB="9144">
                    <a:solidFill>
                      <a:srgbClr val="2E6F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Segoe UI"/>
                        </a:rPr>
                        <a:t>FAKE P</a:t>
                      </a:r>
                    </a:p>
                  </a:txBody>
                  <a:tcPr marL="54864" marR="54864" marT="9144" marB="9144">
                    <a:solidFill>
                      <a:srgbClr val="2E6F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Segoe UI"/>
                        </a:rPr>
                        <a:t>verdict</a:t>
                      </a:r>
                    </a:p>
                  </a:txBody>
                  <a:tcPr marL="54864" marR="54864" marT="9144" marB="9144">
                    <a:solidFill>
                      <a:srgbClr val="2E6F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Segoe UI"/>
                        </a:rPr>
                        <a:t>error</a:t>
                      </a:r>
                    </a:p>
                  </a:txBody>
                  <a:tcPr marL="54864" marR="54864" marT="9144" marB="9144">
                    <a:solidFill>
                      <a:srgbClr val="2E6FD9"/>
                    </a:solidFill>
                  </a:tcPr>
                </a:tc>
              </a:tr>
              <a:tr h="187452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C1C24"/>
                          </a:solidFill>
                          <a:latin typeface="Segoe UI"/>
                        </a:rPr>
                        <a:t>clean</a:t>
                      </a:r>
                    </a:p>
                  </a:txBody>
                  <a:tcPr marL="54864" marR="54864" marT="9144" marB="9144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24"/>
                          </a:solidFill>
                          <a:latin typeface="Segoe UI"/>
                        </a:rPr>
                        <a:t>—</a:t>
                      </a:r>
                    </a:p>
                  </a:txBody>
                  <a:tcPr marL="54864" marR="54864" marT="9144" marB="9144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24"/>
                          </a:solidFill>
                          <a:latin typeface="Segoe UI"/>
                        </a:rPr>
                        <a:t>0.408</a:t>
                      </a:r>
                    </a:p>
                  </a:txBody>
                  <a:tcPr marL="54864" marR="54864" marT="9144" marB="9144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24"/>
                          </a:solidFill>
                          <a:latin typeface="Segoe UI"/>
                        </a:rPr>
                        <a:t>REAL</a:t>
                      </a:r>
                    </a:p>
                  </a:txBody>
                  <a:tcPr marL="54864" marR="54864" marT="9144" marB="9144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24"/>
                          </a:solidFill>
                          <a:latin typeface="Segoe UI"/>
                        </a:rPr>
                        <a:t>0.931</a:t>
                      </a:r>
                    </a:p>
                  </a:txBody>
                  <a:tcPr marL="54864" marR="54864" marT="9144" marB="9144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24"/>
                          </a:solidFill>
                          <a:latin typeface="Segoe UI"/>
                        </a:rPr>
                        <a:t>FAKE</a:t>
                      </a:r>
                    </a:p>
                  </a:txBody>
                  <a:tcPr marL="54864" marR="54864" marT="9144" marB="9144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24"/>
                          </a:solidFill>
                          <a:latin typeface="Segoe UI"/>
                        </a:rPr>
                        <a:t>—</a:t>
                      </a:r>
                    </a:p>
                  </a:txBody>
                  <a:tcPr marL="54864" marR="54864" marT="9144" marB="9144">
                    <a:solidFill>
                      <a:srgbClr val="F2F4F8"/>
                    </a:solidFill>
                  </a:tcPr>
                </a:tc>
              </a:tr>
              <a:tr h="187452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C1C24"/>
                          </a:solidFill>
                          <a:latin typeface="Segoe UI"/>
                        </a:rPr>
                        <a:t>CS  L1</a:t>
                      </a:r>
                    </a:p>
                  </a:txBody>
                  <a:tcPr marL="54864" marR="54864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24"/>
                          </a:solidFill>
                          <a:latin typeface="Segoe UI"/>
                        </a:rPr>
                        <a:t>0.4</a:t>
                      </a:r>
                    </a:p>
                  </a:txBody>
                  <a:tcPr marL="54864" marR="54864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24"/>
                          </a:solidFill>
                          <a:latin typeface="Segoe UI"/>
                        </a:rPr>
                        <a:t>0.469</a:t>
                      </a:r>
                    </a:p>
                  </a:txBody>
                  <a:tcPr marL="54864" marR="54864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24"/>
                          </a:solidFill>
                          <a:latin typeface="Segoe UI"/>
                        </a:rPr>
                        <a:t>REAL</a:t>
                      </a:r>
                    </a:p>
                  </a:txBody>
                  <a:tcPr marL="54864" marR="54864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24"/>
                          </a:solidFill>
                          <a:latin typeface="Segoe UI"/>
                        </a:rPr>
                        <a:t>0.920</a:t>
                      </a:r>
                    </a:p>
                  </a:txBody>
                  <a:tcPr marL="54864" marR="54864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24"/>
                          </a:solidFill>
                          <a:latin typeface="Segoe UI"/>
                        </a:rPr>
                        <a:t>FAKE</a:t>
                      </a:r>
                    </a:p>
                  </a:txBody>
                  <a:tcPr marL="54864" marR="54864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24"/>
                          </a:solidFill>
                          <a:latin typeface="Segoe UI"/>
                        </a:rPr>
                        <a:t>—</a:t>
                      </a:r>
                    </a:p>
                  </a:txBody>
                  <a:tcPr marL="54864" marR="54864" marT="9144" marB="9144">
                    <a:solidFill>
                      <a:srgbClr val="FFFFFF"/>
                    </a:solidFill>
                  </a:tcPr>
                </a:tc>
              </a:tr>
              <a:tr h="187452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C1C24"/>
                          </a:solidFill>
                          <a:latin typeface="Segoe UI"/>
                        </a:rPr>
                        <a:t>CS  L3</a:t>
                      </a:r>
                    </a:p>
                  </a:txBody>
                  <a:tcPr marL="54864" marR="54864" marT="9144" marB="9144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24"/>
                          </a:solidFill>
                          <a:latin typeface="Segoe UI"/>
                        </a:rPr>
                        <a:t>0.2</a:t>
                      </a:r>
                    </a:p>
                  </a:txBody>
                  <a:tcPr marL="54864" marR="54864" marT="9144" marB="9144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24"/>
                          </a:solidFill>
                          <a:latin typeface="Segoe UI"/>
                        </a:rPr>
                        <a:t>0.573</a:t>
                      </a:r>
                    </a:p>
                  </a:txBody>
                  <a:tcPr marL="54864" marR="54864" marT="9144" marB="9144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24"/>
                          </a:solidFill>
                          <a:latin typeface="Segoe UI"/>
                        </a:rPr>
                        <a:t>FAKE</a:t>
                      </a:r>
                    </a:p>
                  </a:txBody>
                  <a:tcPr marL="54864" marR="54864" marT="9144" marB="9144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24"/>
                          </a:solidFill>
                          <a:latin typeface="Segoe UI"/>
                        </a:rPr>
                        <a:t>0.930</a:t>
                      </a:r>
                    </a:p>
                  </a:txBody>
                  <a:tcPr marL="54864" marR="54864" marT="9144" marB="9144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24"/>
                          </a:solidFill>
                          <a:latin typeface="Segoe UI"/>
                        </a:rPr>
                        <a:t>FAKE</a:t>
                      </a:r>
                    </a:p>
                  </a:txBody>
                  <a:tcPr marL="54864" marR="54864" marT="9144" marB="9144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24"/>
                          </a:solidFill>
                          <a:latin typeface="Segoe UI"/>
                        </a:rPr>
                        <a:t>false positive</a:t>
                      </a:r>
                    </a:p>
                  </a:txBody>
                  <a:tcPr marL="54864" marR="54864" marT="9144" marB="9144">
                    <a:solidFill>
                      <a:srgbClr val="F2F4F8"/>
                    </a:solidFill>
                  </a:tcPr>
                </a:tc>
              </a:tr>
              <a:tr h="187452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C1C24"/>
                          </a:solidFill>
                          <a:latin typeface="Segoe UI"/>
                        </a:rPr>
                        <a:t>CS  L5</a:t>
                      </a:r>
                    </a:p>
                  </a:txBody>
                  <a:tcPr marL="54864" marR="54864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24"/>
                          </a:solidFill>
                          <a:latin typeface="Segoe UI"/>
                        </a:rPr>
                        <a:t>0.0</a:t>
                      </a:r>
                    </a:p>
                  </a:txBody>
                  <a:tcPr marL="54864" marR="54864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24"/>
                          </a:solidFill>
                          <a:latin typeface="Segoe UI"/>
                        </a:rPr>
                        <a:t>0.721</a:t>
                      </a:r>
                    </a:p>
                  </a:txBody>
                  <a:tcPr marL="54864" marR="54864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24"/>
                          </a:solidFill>
                          <a:latin typeface="Segoe UI"/>
                        </a:rPr>
                        <a:t>FAKE</a:t>
                      </a:r>
                    </a:p>
                  </a:txBody>
                  <a:tcPr marL="54864" marR="54864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24"/>
                          </a:solidFill>
                          <a:latin typeface="Segoe UI"/>
                        </a:rPr>
                        <a:t>0.944</a:t>
                      </a:r>
                    </a:p>
                  </a:txBody>
                  <a:tcPr marL="54864" marR="54864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24"/>
                          </a:solidFill>
                          <a:latin typeface="Segoe UI"/>
                        </a:rPr>
                        <a:t>FAKE</a:t>
                      </a:r>
                    </a:p>
                  </a:txBody>
                  <a:tcPr marL="54864" marR="54864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24"/>
                          </a:solidFill>
                          <a:latin typeface="Segoe UI"/>
                        </a:rPr>
                        <a:t>false positive</a:t>
                      </a:r>
                    </a:p>
                  </a:txBody>
                  <a:tcPr marL="54864" marR="54864" marT="9144" marB="9144">
                    <a:solidFill>
                      <a:srgbClr val="FFFFFF"/>
                    </a:solidFill>
                  </a:tcPr>
                </a:tc>
              </a:tr>
              <a:tr h="187452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C1C24"/>
                          </a:solidFill>
                          <a:latin typeface="Segoe UI"/>
                        </a:rPr>
                        <a:t>CC  L1</a:t>
                      </a:r>
                    </a:p>
                  </a:txBody>
                  <a:tcPr marL="54864" marR="54864" marT="9144" marB="9144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24"/>
                          </a:solidFill>
                          <a:latin typeface="Segoe UI"/>
                        </a:rPr>
                        <a:t>0.85</a:t>
                      </a:r>
                    </a:p>
                  </a:txBody>
                  <a:tcPr marL="54864" marR="54864" marT="9144" marB="9144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24"/>
                          </a:solidFill>
                          <a:latin typeface="Segoe UI"/>
                        </a:rPr>
                        <a:t>0.443</a:t>
                      </a:r>
                    </a:p>
                  </a:txBody>
                  <a:tcPr marL="54864" marR="54864" marT="9144" marB="9144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24"/>
                          </a:solidFill>
                          <a:latin typeface="Segoe UI"/>
                        </a:rPr>
                        <a:t>REAL</a:t>
                      </a:r>
                    </a:p>
                  </a:txBody>
                  <a:tcPr marL="54864" marR="54864" marT="9144" marB="9144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24"/>
                          </a:solidFill>
                          <a:latin typeface="Segoe UI"/>
                        </a:rPr>
                        <a:t>0.898</a:t>
                      </a:r>
                    </a:p>
                  </a:txBody>
                  <a:tcPr marL="54864" marR="54864" marT="9144" marB="9144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24"/>
                          </a:solidFill>
                          <a:latin typeface="Segoe UI"/>
                        </a:rPr>
                        <a:t>FAKE</a:t>
                      </a:r>
                    </a:p>
                  </a:txBody>
                  <a:tcPr marL="54864" marR="54864" marT="9144" marB="9144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24"/>
                          </a:solidFill>
                          <a:latin typeface="Segoe UI"/>
                        </a:rPr>
                        <a:t>—</a:t>
                      </a:r>
                    </a:p>
                  </a:txBody>
                  <a:tcPr marL="54864" marR="54864" marT="9144" marB="9144">
                    <a:solidFill>
                      <a:srgbClr val="F2F4F8"/>
                    </a:solidFill>
                  </a:tcPr>
                </a:tc>
              </a:tr>
              <a:tr h="187452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C1C24"/>
                          </a:solidFill>
                          <a:latin typeface="Segoe UI"/>
                        </a:rPr>
                        <a:t>CC  L3</a:t>
                      </a:r>
                    </a:p>
                  </a:txBody>
                  <a:tcPr marL="54864" marR="54864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24"/>
                          </a:solidFill>
                          <a:latin typeface="Segoe UI"/>
                        </a:rPr>
                        <a:t>0.6</a:t>
                      </a:r>
                    </a:p>
                  </a:txBody>
                  <a:tcPr marL="54864" marR="54864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24"/>
                          </a:solidFill>
                          <a:latin typeface="Segoe UI"/>
                        </a:rPr>
                        <a:t>0.482</a:t>
                      </a:r>
                    </a:p>
                  </a:txBody>
                  <a:tcPr marL="54864" marR="54864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24"/>
                          </a:solidFill>
                          <a:latin typeface="Segoe UI"/>
                        </a:rPr>
                        <a:t>REAL</a:t>
                      </a:r>
                    </a:p>
                  </a:txBody>
                  <a:tcPr marL="54864" marR="54864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24"/>
                          </a:solidFill>
                          <a:latin typeface="Segoe UI"/>
                        </a:rPr>
                        <a:t>0.856</a:t>
                      </a:r>
                    </a:p>
                  </a:txBody>
                  <a:tcPr marL="54864" marR="54864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24"/>
                          </a:solidFill>
                          <a:latin typeface="Segoe UI"/>
                        </a:rPr>
                        <a:t>FAKE</a:t>
                      </a:r>
                    </a:p>
                  </a:txBody>
                  <a:tcPr marL="54864" marR="54864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24"/>
                          </a:solidFill>
                          <a:latin typeface="Segoe UI"/>
                        </a:rPr>
                        <a:t>—</a:t>
                      </a:r>
                    </a:p>
                  </a:txBody>
                  <a:tcPr marL="54864" marR="54864" marT="9144" marB="9144">
                    <a:solidFill>
                      <a:srgbClr val="FFFFFF"/>
                    </a:solidFill>
                  </a:tcPr>
                </a:tc>
              </a:tr>
              <a:tr h="187452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C1C24"/>
                          </a:solidFill>
                          <a:latin typeface="Segoe UI"/>
                        </a:rPr>
                        <a:t>CC  L5</a:t>
                      </a:r>
                    </a:p>
                  </a:txBody>
                  <a:tcPr marL="54864" marR="54864" marT="9144" marB="9144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24"/>
                          </a:solidFill>
                          <a:latin typeface="Segoe UI"/>
                        </a:rPr>
                        <a:t>0.35</a:t>
                      </a:r>
                    </a:p>
                  </a:txBody>
                  <a:tcPr marL="54864" marR="54864" marT="9144" marB="9144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24"/>
                          </a:solidFill>
                          <a:latin typeface="Segoe UI"/>
                        </a:rPr>
                        <a:t>0.535</a:t>
                      </a:r>
                    </a:p>
                  </a:txBody>
                  <a:tcPr marL="54864" marR="54864" marT="9144" marB="9144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24"/>
                          </a:solidFill>
                          <a:latin typeface="Segoe UI"/>
                        </a:rPr>
                        <a:t>FAKE</a:t>
                      </a:r>
                    </a:p>
                  </a:txBody>
                  <a:tcPr marL="54864" marR="54864" marT="9144" marB="9144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24"/>
                          </a:solidFill>
                          <a:latin typeface="Segoe UI"/>
                        </a:rPr>
                        <a:t>0.821</a:t>
                      </a:r>
                    </a:p>
                  </a:txBody>
                  <a:tcPr marL="54864" marR="54864" marT="9144" marB="9144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24"/>
                          </a:solidFill>
                          <a:latin typeface="Segoe UI"/>
                        </a:rPr>
                        <a:t>FAKE</a:t>
                      </a:r>
                    </a:p>
                  </a:txBody>
                  <a:tcPr marL="54864" marR="54864" marT="9144" marB="9144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24"/>
                          </a:solidFill>
                          <a:latin typeface="Segoe UI"/>
                        </a:rPr>
                        <a:t>false positive</a:t>
                      </a:r>
                    </a:p>
                  </a:txBody>
                  <a:tcPr marL="54864" marR="54864" marT="9144" marB="9144">
                    <a:solidFill>
                      <a:srgbClr val="F2F4F8"/>
                    </a:solidFill>
                  </a:tcPr>
                </a:tc>
              </a:tr>
              <a:tr h="187452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C1C24"/>
                          </a:solidFill>
                          <a:latin typeface="Segoe UI"/>
                        </a:rPr>
                        <a:t>BW  L1</a:t>
                      </a:r>
                    </a:p>
                  </a:txBody>
                  <a:tcPr marL="54864" marR="54864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24"/>
                          </a:solidFill>
                          <a:latin typeface="Segoe UI"/>
                        </a:rPr>
                        <a:t>16</a:t>
                      </a:r>
                    </a:p>
                  </a:txBody>
                  <a:tcPr marL="54864" marR="54864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24"/>
                          </a:solidFill>
                          <a:latin typeface="Segoe UI"/>
                        </a:rPr>
                        <a:t>0.458</a:t>
                      </a:r>
                    </a:p>
                  </a:txBody>
                  <a:tcPr marL="54864" marR="54864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24"/>
                          </a:solidFill>
                          <a:latin typeface="Segoe UI"/>
                        </a:rPr>
                        <a:t>REAL</a:t>
                      </a:r>
                    </a:p>
                  </a:txBody>
                  <a:tcPr marL="54864" marR="54864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24"/>
                          </a:solidFill>
                          <a:latin typeface="Segoe UI"/>
                        </a:rPr>
                        <a:t>0.920</a:t>
                      </a:r>
                    </a:p>
                  </a:txBody>
                  <a:tcPr marL="54864" marR="54864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24"/>
                          </a:solidFill>
                          <a:latin typeface="Segoe UI"/>
                        </a:rPr>
                        <a:t>FAKE</a:t>
                      </a:r>
                    </a:p>
                  </a:txBody>
                  <a:tcPr marL="54864" marR="54864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24"/>
                          </a:solidFill>
                          <a:latin typeface="Segoe UI"/>
                        </a:rPr>
                        <a:t>—</a:t>
                      </a:r>
                    </a:p>
                  </a:txBody>
                  <a:tcPr marL="54864" marR="54864" marT="9144" marB="9144">
                    <a:solidFill>
                      <a:srgbClr val="FFFFFF"/>
                    </a:solidFill>
                  </a:tcPr>
                </a:tc>
              </a:tr>
              <a:tr h="187452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C1C24"/>
                          </a:solidFill>
                          <a:latin typeface="Segoe UI"/>
                        </a:rPr>
                        <a:t>BW  L3</a:t>
                      </a:r>
                    </a:p>
                  </a:txBody>
                  <a:tcPr marL="54864" marR="54864" marT="9144" marB="9144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24"/>
                          </a:solidFill>
                          <a:latin typeface="Segoe UI"/>
                        </a:rPr>
                        <a:t>48</a:t>
                      </a:r>
                    </a:p>
                  </a:txBody>
                  <a:tcPr marL="54864" marR="54864" marT="9144" marB="9144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24"/>
                          </a:solidFill>
                          <a:latin typeface="Segoe UI"/>
                        </a:rPr>
                        <a:t>0.424</a:t>
                      </a:r>
                    </a:p>
                  </a:txBody>
                  <a:tcPr marL="54864" marR="54864" marT="9144" marB="9144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24"/>
                          </a:solidFill>
                          <a:latin typeface="Segoe UI"/>
                        </a:rPr>
                        <a:t>REAL</a:t>
                      </a:r>
                    </a:p>
                  </a:txBody>
                  <a:tcPr marL="54864" marR="54864" marT="9144" marB="9144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24"/>
                          </a:solidFill>
                          <a:latin typeface="Segoe UI"/>
                        </a:rPr>
                        <a:t>0.904</a:t>
                      </a:r>
                    </a:p>
                  </a:txBody>
                  <a:tcPr marL="54864" marR="54864" marT="9144" marB="9144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24"/>
                          </a:solidFill>
                          <a:latin typeface="Segoe UI"/>
                        </a:rPr>
                        <a:t>FAKE</a:t>
                      </a:r>
                    </a:p>
                  </a:txBody>
                  <a:tcPr marL="54864" marR="54864" marT="9144" marB="9144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24"/>
                          </a:solidFill>
                          <a:latin typeface="Segoe UI"/>
                        </a:rPr>
                        <a:t>—</a:t>
                      </a:r>
                    </a:p>
                  </a:txBody>
                  <a:tcPr marL="54864" marR="54864" marT="9144" marB="9144">
                    <a:solidFill>
                      <a:srgbClr val="F2F4F8"/>
                    </a:solidFill>
                  </a:tcPr>
                </a:tc>
              </a:tr>
              <a:tr h="187452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C1C24"/>
                          </a:solidFill>
                          <a:latin typeface="Segoe UI"/>
                        </a:rPr>
                        <a:t>BW  L5</a:t>
                      </a:r>
                    </a:p>
                  </a:txBody>
                  <a:tcPr marL="54864" marR="54864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24"/>
                          </a:solidFill>
                          <a:latin typeface="Segoe UI"/>
                        </a:rPr>
                        <a:t>80</a:t>
                      </a:r>
                    </a:p>
                  </a:txBody>
                  <a:tcPr marL="54864" marR="54864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24"/>
                          </a:solidFill>
                          <a:latin typeface="Segoe UI"/>
                        </a:rPr>
                        <a:t>0.425</a:t>
                      </a:r>
                    </a:p>
                  </a:txBody>
                  <a:tcPr marL="54864" marR="54864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24"/>
                          </a:solidFill>
                          <a:latin typeface="Segoe UI"/>
                        </a:rPr>
                        <a:t>REAL</a:t>
                      </a:r>
                    </a:p>
                  </a:txBody>
                  <a:tcPr marL="54864" marR="54864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24"/>
                          </a:solidFill>
                          <a:latin typeface="Segoe UI"/>
                        </a:rPr>
                        <a:t>0.891</a:t>
                      </a:r>
                    </a:p>
                  </a:txBody>
                  <a:tcPr marL="54864" marR="54864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24"/>
                          </a:solidFill>
                          <a:latin typeface="Segoe UI"/>
                        </a:rPr>
                        <a:t>FAKE</a:t>
                      </a:r>
                    </a:p>
                  </a:txBody>
                  <a:tcPr marL="54864" marR="54864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24"/>
                          </a:solidFill>
                          <a:latin typeface="Segoe UI"/>
                        </a:rPr>
                        <a:t>—</a:t>
                      </a:r>
                    </a:p>
                  </a:txBody>
                  <a:tcPr marL="54864" marR="54864" marT="9144" marB="9144">
                    <a:solidFill>
                      <a:srgbClr val="FFFFFF"/>
                    </a:solidFill>
                  </a:tcPr>
                </a:tc>
              </a:tr>
              <a:tr h="187452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C1C24"/>
                          </a:solidFill>
                          <a:latin typeface="Segoe UI"/>
                        </a:rPr>
                        <a:t>GNC  L1</a:t>
                      </a:r>
                    </a:p>
                  </a:txBody>
                  <a:tcPr marL="54864" marR="54864" marT="9144" marB="9144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24"/>
                          </a:solidFill>
                          <a:latin typeface="Segoe UI"/>
                        </a:rPr>
                        <a:t>0.001</a:t>
                      </a:r>
                    </a:p>
                  </a:txBody>
                  <a:tcPr marL="54864" marR="54864" marT="9144" marB="9144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24"/>
                          </a:solidFill>
                          <a:latin typeface="Segoe UI"/>
                        </a:rPr>
                        <a:t>0.193</a:t>
                      </a:r>
                    </a:p>
                  </a:txBody>
                  <a:tcPr marL="54864" marR="54864" marT="9144" marB="9144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24"/>
                          </a:solidFill>
                          <a:latin typeface="Segoe UI"/>
                        </a:rPr>
                        <a:t>REAL</a:t>
                      </a:r>
                    </a:p>
                  </a:txBody>
                  <a:tcPr marL="54864" marR="54864" marT="9144" marB="9144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24"/>
                          </a:solidFill>
                          <a:latin typeface="Segoe UI"/>
                        </a:rPr>
                        <a:t>0.568</a:t>
                      </a:r>
                    </a:p>
                  </a:txBody>
                  <a:tcPr marL="54864" marR="54864" marT="9144" marB="9144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24"/>
                          </a:solidFill>
                          <a:latin typeface="Segoe UI"/>
                        </a:rPr>
                        <a:t>FAKE</a:t>
                      </a:r>
                    </a:p>
                  </a:txBody>
                  <a:tcPr marL="54864" marR="54864" marT="9144" marB="9144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24"/>
                          </a:solidFill>
                          <a:latin typeface="Segoe UI"/>
                        </a:rPr>
                        <a:t>—</a:t>
                      </a:r>
                    </a:p>
                  </a:txBody>
                  <a:tcPr marL="54864" marR="54864" marT="9144" marB="9144">
                    <a:solidFill>
                      <a:srgbClr val="F2F4F8"/>
                    </a:solidFill>
                  </a:tcPr>
                </a:tc>
              </a:tr>
              <a:tr h="187452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C1C24"/>
                          </a:solidFill>
                          <a:latin typeface="Segoe UI"/>
                        </a:rPr>
                        <a:t>GNC  L3</a:t>
                      </a:r>
                    </a:p>
                  </a:txBody>
                  <a:tcPr marL="54864" marR="54864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24"/>
                          </a:solidFill>
                          <a:latin typeface="Segoe UI"/>
                        </a:rPr>
                        <a:t>0.005</a:t>
                      </a:r>
                    </a:p>
                  </a:txBody>
                  <a:tcPr marL="54864" marR="54864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24"/>
                          </a:solidFill>
                          <a:latin typeface="Segoe UI"/>
                        </a:rPr>
                        <a:t>0.160</a:t>
                      </a:r>
                    </a:p>
                  </a:txBody>
                  <a:tcPr marL="54864" marR="54864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24"/>
                          </a:solidFill>
                          <a:latin typeface="Segoe UI"/>
                        </a:rPr>
                        <a:t>REAL</a:t>
                      </a:r>
                    </a:p>
                  </a:txBody>
                  <a:tcPr marL="54864" marR="54864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24"/>
                          </a:solidFill>
                          <a:latin typeface="Segoe UI"/>
                        </a:rPr>
                        <a:t>0.319</a:t>
                      </a:r>
                    </a:p>
                  </a:txBody>
                  <a:tcPr marL="54864" marR="54864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24"/>
                          </a:solidFill>
                          <a:latin typeface="Segoe UI"/>
                        </a:rPr>
                        <a:t>REAL</a:t>
                      </a:r>
                    </a:p>
                  </a:txBody>
                  <a:tcPr marL="54864" marR="54864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24"/>
                          </a:solidFill>
                          <a:latin typeface="Segoe UI"/>
                        </a:rPr>
                        <a:t>false negative</a:t>
                      </a:r>
                    </a:p>
                  </a:txBody>
                  <a:tcPr marL="54864" marR="54864" marT="9144" marB="9144">
                    <a:solidFill>
                      <a:srgbClr val="FFFFFF"/>
                    </a:solidFill>
                  </a:tcPr>
                </a:tc>
              </a:tr>
              <a:tr h="187452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C1C24"/>
                          </a:solidFill>
                          <a:latin typeface="Segoe UI"/>
                        </a:rPr>
                        <a:t>GNC  L5</a:t>
                      </a:r>
                    </a:p>
                  </a:txBody>
                  <a:tcPr marL="54864" marR="54864" marT="9144" marB="9144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24"/>
                          </a:solidFill>
                          <a:latin typeface="Segoe UI"/>
                        </a:rPr>
                        <a:t>0.05</a:t>
                      </a:r>
                    </a:p>
                  </a:txBody>
                  <a:tcPr marL="54864" marR="54864" marT="9144" marB="9144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24"/>
                          </a:solidFill>
                          <a:latin typeface="Segoe UI"/>
                        </a:rPr>
                        <a:t>0.409</a:t>
                      </a:r>
                    </a:p>
                  </a:txBody>
                  <a:tcPr marL="54864" marR="54864" marT="9144" marB="9144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24"/>
                          </a:solidFill>
                          <a:latin typeface="Segoe UI"/>
                        </a:rPr>
                        <a:t>REAL</a:t>
                      </a:r>
                    </a:p>
                  </a:txBody>
                  <a:tcPr marL="54864" marR="54864" marT="9144" marB="9144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24"/>
                          </a:solidFill>
                          <a:latin typeface="Segoe UI"/>
                        </a:rPr>
                        <a:t>0.494</a:t>
                      </a:r>
                    </a:p>
                  </a:txBody>
                  <a:tcPr marL="54864" marR="54864" marT="9144" marB="9144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24"/>
                          </a:solidFill>
                          <a:latin typeface="Segoe UI"/>
                        </a:rPr>
                        <a:t>REAL</a:t>
                      </a:r>
                    </a:p>
                  </a:txBody>
                  <a:tcPr marL="54864" marR="54864" marT="9144" marB="9144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24"/>
                          </a:solidFill>
                          <a:latin typeface="Segoe UI"/>
                        </a:rPr>
                        <a:t>false negative</a:t>
                      </a:r>
                    </a:p>
                  </a:txBody>
                  <a:tcPr marL="54864" marR="54864" marT="9144" marB="9144">
                    <a:solidFill>
                      <a:srgbClr val="F2F4F8"/>
                    </a:solidFill>
                  </a:tcPr>
                </a:tc>
              </a:tr>
              <a:tr h="187452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C1C24"/>
                          </a:solidFill>
                          <a:latin typeface="Segoe UI"/>
                        </a:rPr>
                        <a:t>GB  L1</a:t>
                      </a:r>
                    </a:p>
                  </a:txBody>
                  <a:tcPr marL="54864" marR="54864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24"/>
                          </a:solidFill>
                          <a:latin typeface="Segoe UI"/>
                        </a:rPr>
                        <a:t>7</a:t>
                      </a:r>
                    </a:p>
                  </a:txBody>
                  <a:tcPr marL="54864" marR="54864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24"/>
                          </a:solidFill>
                          <a:latin typeface="Segoe UI"/>
                        </a:rPr>
                        <a:t>0.572</a:t>
                      </a:r>
                    </a:p>
                  </a:txBody>
                  <a:tcPr marL="54864" marR="54864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24"/>
                          </a:solidFill>
                          <a:latin typeface="Segoe UI"/>
                        </a:rPr>
                        <a:t>FAKE</a:t>
                      </a:r>
                    </a:p>
                  </a:txBody>
                  <a:tcPr marL="54864" marR="54864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24"/>
                          </a:solidFill>
                          <a:latin typeface="Segoe UI"/>
                        </a:rPr>
                        <a:t>0.760</a:t>
                      </a:r>
                    </a:p>
                  </a:txBody>
                  <a:tcPr marL="54864" marR="54864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24"/>
                          </a:solidFill>
                          <a:latin typeface="Segoe UI"/>
                        </a:rPr>
                        <a:t>FAKE</a:t>
                      </a:r>
                    </a:p>
                  </a:txBody>
                  <a:tcPr marL="54864" marR="54864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24"/>
                          </a:solidFill>
                          <a:latin typeface="Segoe UI"/>
                        </a:rPr>
                        <a:t>false positive</a:t>
                      </a:r>
                    </a:p>
                  </a:txBody>
                  <a:tcPr marL="54864" marR="54864" marT="9144" marB="9144">
                    <a:solidFill>
                      <a:srgbClr val="FFFFFF"/>
                    </a:solidFill>
                  </a:tcPr>
                </a:tc>
              </a:tr>
              <a:tr h="187452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C1C24"/>
                          </a:solidFill>
                          <a:latin typeface="Segoe UI"/>
                        </a:rPr>
                        <a:t>GB  L3</a:t>
                      </a:r>
                    </a:p>
                  </a:txBody>
                  <a:tcPr marL="54864" marR="54864" marT="9144" marB="9144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24"/>
                          </a:solidFill>
                          <a:latin typeface="Segoe UI"/>
                        </a:rPr>
                        <a:t>13</a:t>
                      </a:r>
                    </a:p>
                  </a:txBody>
                  <a:tcPr marL="54864" marR="54864" marT="9144" marB="9144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24"/>
                          </a:solidFill>
                          <a:latin typeface="Segoe UI"/>
                        </a:rPr>
                        <a:t>0.654</a:t>
                      </a:r>
                    </a:p>
                  </a:txBody>
                  <a:tcPr marL="54864" marR="54864" marT="9144" marB="9144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24"/>
                          </a:solidFill>
                          <a:latin typeface="Segoe UI"/>
                        </a:rPr>
                        <a:t>FAKE</a:t>
                      </a:r>
                    </a:p>
                  </a:txBody>
                  <a:tcPr marL="54864" marR="54864" marT="9144" marB="9144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24"/>
                          </a:solidFill>
                          <a:latin typeface="Segoe UI"/>
                        </a:rPr>
                        <a:t>0.703</a:t>
                      </a:r>
                    </a:p>
                  </a:txBody>
                  <a:tcPr marL="54864" marR="54864" marT="9144" marB="9144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24"/>
                          </a:solidFill>
                          <a:latin typeface="Segoe UI"/>
                        </a:rPr>
                        <a:t>FAKE</a:t>
                      </a:r>
                    </a:p>
                  </a:txBody>
                  <a:tcPr marL="54864" marR="54864" marT="9144" marB="9144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24"/>
                          </a:solidFill>
                          <a:latin typeface="Segoe UI"/>
                        </a:rPr>
                        <a:t>false positive</a:t>
                      </a:r>
                    </a:p>
                  </a:txBody>
                  <a:tcPr marL="54864" marR="54864" marT="9144" marB="9144">
                    <a:solidFill>
                      <a:srgbClr val="F2F4F8"/>
                    </a:solidFill>
                  </a:tcPr>
                </a:tc>
              </a:tr>
              <a:tr h="187452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C1C24"/>
                          </a:solidFill>
                          <a:latin typeface="Segoe UI"/>
                        </a:rPr>
                        <a:t>GB  L5</a:t>
                      </a:r>
                    </a:p>
                  </a:txBody>
                  <a:tcPr marL="54864" marR="54864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24"/>
                          </a:solidFill>
                          <a:latin typeface="Segoe UI"/>
                        </a:rPr>
                        <a:t>21</a:t>
                      </a:r>
                    </a:p>
                  </a:txBody>
                  <a:tcPr marL="54864" marR="54864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24"/>
                          </a:solidFill>
                          <a:latin typeface="Segoe UI"/>
                        </a:rPr>
                        <a:t>0.660</a:t>
                      </a:r>
                    </a:p>
                  </a:txBody>
                  <a:tcPr marL="54864" marR="54864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24"/>
                          </a:solidFill>
                          <a:latin typeface="Segoe UI"/>
                        </a:rPr>
                        <a:t>FAKE</a:t>
                      </a:r>
                    </a:p>
                  </a:txBody>
                  <a:tcPr marL="54864" marR="54864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24"/>
                          </a:solidFill>
                          <a:latin typeface="Segoe UI"/>
                        </a:rPr>
                        <a:t>0.691</a:t>
                      </a:r>
                    </a:p>
                  </a:txBody>
                  <a:tcPr marL="54864" marR="54864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24"/>
                          </a:solidFill>
                          <a:latin typeface="Segoe UI"/>
                        </a:rPr>
                        <a:t>FAKE</a:t>
                      </a:r>
                    </a:p>
                  </a:txBody>
                  <a:tcPr marL="54864" marR="54864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24"/>
                          </a:solidFill>
                          <a:latin typeface="Segoe UI"/>
                        </a:rPr>
                        <a:t>false positive</a:t>
                      </a:r>
                    </a:p>
                  </a:txBody>
                  <a:tcPr marL="54864" marR="54864" marT="9144" marB="9144">
                    <a:solidFill>
                      <a:srgbClr val="FFFFFF"/>
                    </a:solidFill>
                  </a:tcPr>
                </a:tc>
              </a:tr>
              <a:tr h="187452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C1C24"/>
                          </a:solidFill>
                          <a:latin typeface="Segoe UI"/>
                        </a:rPr>
                        <a:t>JPEG  L1</a:t>
                      </a:r>
                    </a:p>
                  </a:txBody>
                  <a:tcPr marL="54864" marR="54864" marT="9144" marB="9144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24"/>
                          </a:solidFill>
                          <a:latin typeface="Segoe UI"/>
                        </a:rPr>
                        <a:t>2</a:t>
                      </a:r>
                    </a:p>
                  </a:txBody>
                  <a:tcPr marL="54864" marR="54864" marT="9144" marB="9144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24"/>
                          </a:solidFill>
                          <a:latin typeface="Segoe UI"/>
                        </a:rPr>
                        <a:t>0.553</a:t>
                      </a:r>
                    </a:p>
                  </a:txBody>
                  <a:tcPr marL="54864" marR="54864" marT="9144" marB="9144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24"/>
                          </a:solidFill>
                          <a:latin typeface="Segoe UI"/>
                        </a:rPr>
                        <a:t>FAKE</a:t>
                      </a:r>
                    </a:p>
                  </a:txBody>
                  <a:tcPr marL="54864" marR="54864" marT="9144" marB="9144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24"/>
                          </a:solidFill>
                          <a:latin typeface="Segoe UI"/>
                        </a:rPr>
                        <a:t>0.788</a:t>
                      </a:r>
                    </a:p>
                  </a:txBody>
                  <a:tcPr marL="54864" marR="54864" marT="9144" marB="9144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24"/>
                          </a:solidFill>
                          <a:latin typeface="Segoe UI"/>
                        </a:rPr>
                        <a:t>FAKE</a:t>
                      </a:r>
                    </a:p>
                  </a:txBody>
                  <a:tcPr marL="54864" marR="54864" marT="9144" marB="9144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24"/>
                          </a:solidFill>
                          <a:latin typeface="Segoe UI"/>
                        </a:rPr>
                        <a:t>false positive</a:t>
                      </a:r>
                    </a:p>
                  </a:txBody>
                  <a:tcPr marL="54864" marR="54864" marT="9144" marB="9144">
                    <a:solidFill>
                      <a:srgbClr val="F2F4F8"/>
                    </a:solidFill>
                  </a:tcPr>
                </a:tc>
              </a:tr>
              <a:tr h="187452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C1C24"/>
                          </a:solidFill>
                          <a:latin typeface="Segoe UI"/>
                        </a:rPr>
                        <a:t>JPEG  L3</a:t>
                      </a:r>
                    </a:p>
                  </a:txBody>
                  <a:tcPr marL="54864" marR="54864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24"/>
                          </a:solidFill>
                          <a:latin typeface="Segoe UI"/>
                        </a:rPr>
                        <a:t>4</a:t>
                      </a:r>
                    </a:p>
                  </a:txBody>
                  <a:tcPr marL="54864" marR="54864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24"/>
                          </a:solidFill>
                          <a:latin typeface="Segoe UI"/>
                        </a:rPr>
                        <a:t>0.693</a:t>
                      </a:r>
                    </a:p>
                  </a:txBody>
                  <a:tcPr marL="54864" marR="54864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24"/>
                          </a:solidFill>
                          <a:latin typeface="Segoe UI"/>
                        </a:rPr>
                        <a:t>FAKE</a:t>
                      </a:r>
                    </a:p>
                  </a:txBody>
                  <a:tcPr marL="54864" marR="54864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24"/>
                          </a:solidFill>
                          <a:latin typeface="Segoe UI"/>
                        </a:rPr>
                        <a:t>0.718</a:t>
                      </a:r>
                    </a:p>
                  </a:txBody>
                  <a:tcPr marL="54864" marR="54864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24"/>
                          </a:solidFill>
                          <a:latin typeface="Segoe UI"/>
                        </a:rPr>
                        <a:t>FAKE</a:t>
                      </a:r>
                    </a:p>
                  </a:txBody>
                  <a:tcPr marL="54864" marR="54864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24"/>
                          </a:solidFill>
                          <a:latin typeface="Segoe UI"/>
                        </a:rPr>
                        <a:t>false positive</a:t>
                      </a:r>
                    </a:p>
                  </a:txBody>
                  <a:tcPr marL="54864" marR="54864" marT="9144" marB="9144">
                    <a:solidFill>
                      <a:srgbClr val="FFFFFF"/>
                    </a:solidFill>
                  </a:tcPr>
                </a:tc>
              </a:tr>
              <a:tr h="187452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C1C24"/>
                          </a:solidFill>
                          <a:latin typeface="Segoe UI"/>
                        </a:rPr>
                        <a:t>JPEG  L5</a:t>
                      </a:r>
                    </a:p>
                  </a:txBody>
                  <a:tcPr marL="54864" marR="54864" marT="9144" marB="9144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24"/>
                          </a:solidFill>
                          <a:latin typeface="Segoe UI"/>
                        </a:rPr>
                        <a:t>6</a:t>
                      </a:r>
                    </a:p>
                  </a:txBody>
                  <a:tcPr marL="54864" marR="54864" marT="9144" marB="9144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24"/>
                          </a:solidFill>
                          <a:latin typeface="Segoe UI"/>
                        </a:rPr>
                        <a:t>0.730</a:t>
                      </a:r>
                    </a:p>
                  </a:txBody>
                  <a:tcPr marL="54864" marR="54864" marT="9144" marB="9144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24"/>
                          </a:solidFill>
                          <a:latin typeface="Segoe UI"/>
                        </a:rPr>
                        <a:t>FAKE</a:t>
                      </a:r>
                    </a:p>
                  </a:txBody>
                  <a:tcPr marL="54864" marR="54864" marT="9144" marB="9144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24"/>
                          </a:solidFill>
                          <a:latin typeface="Segoe UI"/>
                        </a:rPr>
                        <a:t>0.655</a:t>
                      </a:r>
                    </a:p>
                  </a:txBody>
                  <a:tcPr marL="54864" marR="54864" marT="9144" marB="9144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24"/>
                          </a:solidFill>
                          <a:latin typeface="Segoe UI"/>
                        </a:rPr>
                        <a:t>FAKE</a:t>
                      </a:r>
                    </a:p>
                  </a:txBody>
                  <a:tcPr marL="54864" marR="54864" marT="9144" marB="9144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24"/>
                          </a:solidFill>
                          <a:latin typeface="Segoe UI"/>
                        </a:rPr>
                        <a:t>false positive</a:t>
                      </a:r>
                    </a:p>
                  </a:txBody>
                  <a:tcPr marL="54864" marR="54864" marT="9144" marB="9144">
                    <a:solidFill>
                      <a:srgbClr val="F2F4F8"/>
                    </a:solidFill>
                  </a:tcPr>
                </a:tc>
              </a:tr>
              <a:tr h="187452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C1C24"/>
                          </a:solidFill>
                          <a:latin typeface="Segoe UI"/>
                        </a:rPr>
                        <a:t>VC  L1</a:t>
                      </a:r>
                    </a:p>
                  </a:txBody>
                  <a:tcPr marL="54864" marR="54864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24"/>
                          </a:solidFill>
                          <a:latin typeface="Segoe UI"/>
                        </a:rPr>
                        <a:t>30</a:t>
                      </a:r>
                    </a:p>
                  </a:txBody>
                  <a:tcPr marL="54864" marR="54864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24"/>
                          </a:solidFill>
                          <a:latin typeface="Segoe UI"/>
                        </a:rPr>
                        <a:t>0.516</a:t>
                      </a:r>
                    </a:p>
                  </a:txBody>
                  <a:tcPr marL="54864" marR="54864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24"/>
                          </a:solidFill>
                          <a:latin typeface="Segoe UI"/>
                        </a:rPr>
                        <a:t>FAKE</a:t>
                      </a:r>
                    </a:p>
                  </a:txBody>
                  <a:tcPr marL="54864" marR="54864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24"/>
                          </a:solidFill>
                          <a:latin typeface="Segoe UI"/>
                        </a:rPr>
                        <a:t>0.799</a:t>
                      </a:r>
                    </a:p>
                  </a:txBody>
                  <a:tcPr marL="54864" marR="54864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24"/>
                          </a:solidFill>
                          <a:latin typeface="Segoe UI"/>
                        </a:rPr>
                        <a:t>FAKE</a:t>
                      </a:r>
                    </a:p>
                  </a:txBody>
                  <a:tcPr marL="54864" marR="54864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24"/>
                          </a:solidFill>
                          <a:latin typeface="Segoe UI"/>
                        </a:rPr>
                        <a:t>false positive</a:t>
                      </a:r>
                    </a:p>
                  </a:txBody>
                  <a:tcPr marL="54864" marR="54864" marT="9144" marB="9144">
                    <a:solidFill>
                      <a:srgbClr val="FFFFFF"/>
                    </a:solidFill>
                  </a:tcPr>
                </a:tc>
              </a:tr>
              <a:tr h="187452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C1C24"/>
                          </a:solidFill>
                          <a:latin typeface="Segoe UI"/>
                        </a:rPr>
                        <a:t>VC  L3</a:t>
                      </a:r>
                    </a:p>
                  </a:txBody>
                  <a:tcPr marL="54864" marR="54864" marT="9144" marB="9144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24"/>
                          </a:solidFill>
                          <a:latin typeface="Segoe UI"/>
                        </a:rPr>
                        <a:t>35</a:t>
                      </a:r>
                    </a:p>
                  </a:txBody>
                  <a:tcPr marL="54864" marR="54864" marT="9144" marB="9144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24"/>
                          </a:solidFill>
                          <a:latin typeface="Segoe UI"/>
                        </a:rPr>
                        <a:t>0.560</a:t>
                      </a:r>
                    </a:p>
                  </a:txBody>
                  <a:tcPr marL="54864" marR="54864" marT="9144" marB="9144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24"/>
                          </a:solidFill>
                          <a:latin typeface="Segoe UI"/>
                        </a:rPr>
                        <a:t>FAKE</a:t>
                      </a:r>
                    </a:p>
                  </a:txBody>
                  <a:tcPr marL="54864" marR="54864" marT="9144" marB="9144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24"/>
                          </a:solidFill>
                          <a:latin typeface="Segoe UI"/>
                        </a:rPr>
                        <a:t>0.713</a:t>
                      </a:r>
                    </a:p>
                  </a:txBody>
                  <a:tcPr marL="54864" marR="54864" marT="9144" marB="9144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24"/>
                          </a:solidFill>
                          <a:latin typeface="Segoe UI"/>
                        </a:rPr>
                        <a:t>FAKE</a:t>
                      </a:r>
                    </a:p>
                  </a:txBody>
                  <a:tcPr marL="54864" marR="54864" marT="9144" marB="9144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24"/>
                          </a:solidFill>
                          <a:latin typeface="Segoe UI"/>
                        </a:rPr>
                        <a:t>false positive</a:t>
                      </a:r>
                    </a:p>
                  </a:txBody>
                  <a:tcPr marL="54864" marR="54864" marT="9144" marB="9144">
                    <a:solidFill>
                      <a:srgbClr val="F2F4F8"/>
                    </a:solidFill>
                  </a:tcPr>
                </a:tc>
              </a:tr>
              <a:tr h="187452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C1C24"/>
                          </a:solidFill>
                          <a:latin typeface="Segoe UI"/>
                        </a:rPr>
                        <a:t>VC  L5</a:t>
                      </a:r>
                    </a:p>
                  </a:txBody>
                  <a:tcPr marL="54864" marR="54864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24"/>
                          </a:solidFill>
                          <a:latin typeface="Segoe UI"/>
                        </a:rPr>
                        <a:t>40</a:t>
                      </a:r>
                    </a:p>
                  </a:txBody>
                  <a:tcPr marL="54864" marR="54864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24"/>
                          </a:solidFill>
                          <a:latin typeface="Segoe UI"/>
                        </a:rPr>
                        <a:t>0.595</a:t>
                      </a:r>
                    </a:p>
                  </a:txBody>
                  <a:tcPr marL="54864" marR="54864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24"/>
                          </a:solidFill>
                          <a:latin typeface="Segoe UI"/>
                        </a:rPr>
                        <a:t>FAKE</a:t>
                      </a:r>
                    </a:p>
                  </a:txBody>
                  <a:tcPr marL="54864" marR="54864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24"/>
                          </a:solidFill>
                          <a:latin typeface="Segoe UI"/>
                        </a:rPr>
                        <a:t>0.679</a:t>
                      </a:r>
                    </a:p>
                  </a:txBody>
                  <a:tcPr marL="54864" marR="54864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24"/>
                          </a:solidFill>
                          <a:latin typeface="Segoe UI"/>
                        </a:rPr>
                        <a:t>FAKE</a:t>
                      </a:r>
                    </a:p>
                  </a:txBody>
                  <a:tcPr marL="54864" marR="54864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24"/>
                          </a:solidFill>
                          <a:latin typeface="Segoe UI"/>
                        </a:rPr>
                        <a:t>false positive</a:t>
                      </a:r>
                    </a:p>
                  </a:txBody>
                  <a:tcPr marL="54864" marR="54864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975604"/>
            <a:ext cx="11057839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500"/>
              </a:spcAft>
            </a:pPr>
            <a:r>
              <a:rPr sz="1000" b="0" i="0">
                <a:solidFill>
                  <a:srgbClr val="5A5F6E"/>
                </a:solidFill>
                <a:latin typeface="Segoe UI"/>
              </a:rPr>
              <a:t>CS colour saturation · CC colour contrast · BW block-wise noise · GNC Gaussian noise · GB Gaussian blur · JPEG down/up-sampling · VC H.264 compression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"/>
          </a:xfrm>
          <a:prstGeom prst="rect">
            <a:avLst/>
          </a:prstGeom>
          <a:solidFill>
            <a:srgbClr val="2E6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74320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500"/>
              </a:spcAft>
            </a:pPr>
            <a:r>
              <a:rPr sz="1100" b="1" i="0">
                <a:solidFill>
                  <a:srgbClr val="2E6FD9"/>
                </a:solidFill>
                <a:latin typeface="Segoe UI"/>
              </a:rPr>
              <a:t>CONCLUSION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48640"/>
            <a:ext cx="11057839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500"/>
              </a:spcAft>
            </a:pPr>
            <a:r>
              <a:rPr sz="2500" b="1" i="0">
                <a:solidFill>
                  <a:srgbClr val="1C1C24"/>
                </a:solidFill>
                <a:latin typeface="Segoe UI"/>
              </a:rPr>
              <a:t>Answers to the question we set out to ask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52144"/>
            <a:ext cx="5440680" cy="1965960"/>
          </a:xfrm>
          <a:prstGeom prst="roundRect">
            <a:avLst/>
          </a:prstGeom>
          <a:solidFill>
            <a:srgbClr val="F2F4F8"/>
          </a:solidFill>
          <a:ln w="15240">
            <a:solidFill>
              <a:srgbClr val="D962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49808" y="1280160"/>
            <a:ext cx="507492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500"/>
              </a:spcAft>
            </a:pPr>
            <a:r>
              <a:rPr sz="1000" b="1" i="0">
                <a:solidFill>
                  <a:srgbClr val="5A5F6E"/>
                </a:solidFill>
                <a:latin typeface="Segoe UI"/>
              </a:rPr>
              <a:t>WHEN IT SAYS FAKE   (P = 0.932)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1517904"/>
            <a:ext cx="507492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500"/>
              </a:spcAft>
            </a:pPr>
            <a:r>
              <a:rPr sz="1500" b="1" i="0">
                <a:solidFill>
                  <a:srgbClr val="D9622E"/>
                </a:solidFill>
                <a:latin typeface="Segoe UI"/>
              </a:rPr>
              <a:t>spatial 50.4% / temporal 49.6%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1956816"/>
            <a:ext cx="5074920" cy="1051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500"/>
              </a:spcAft>
            </a:pPr>
            <a:r>
              <a:rPr sz="1050" b="0" i="0">
                <a:solidFill>
                  <a:srgbClr val="1C1C24"/>
                </a:solidFill>
                <a:latin typeface="Segoe UI"/>
              </a:rPr>
              <a:t>MAIN CAUSE: the EYES — 45.6% of the spatial evidence, then skin 27.1%.</a:t>
            </a:r>
          </a:p>
          <a:p>
            <a:pPr algn="l">
              <a:lnSpc>
                <a:spcPct val="118000"/>
              </a:lnSpc>
              <a:spcAft>
                <a:spcPts val="500"/>
              </a:spcAft>
            </a:pPr>
            <a:r>
              <a:rPr sz="1050" b="0" i="0">
                <a:solidFill>
                  <a:srgbClr val="1C1C24"/>
                </a:solidFill>
                <a:latin typeface="Segoe UI"/>
              </a:rPr>
              <a:t>Temporal evidence appears in the inner face (eyes, nose) — the region the swap replaced.</a:t>
            </a:r>
          </a:p>
          <a:p>
            <a:pPr algn="l">
              <a:lnSpc>
                <a:spcPct val="118000"/>
              </a:lnSpc>
              <a:spcAft>
                <a:spcPts val="500"/>
              </a:spcAft>
            </a:pPr>
            <a:r>
              <a:rPr sz="1050" b="0" i="0">
                <a:solidFill>
                  <a:srgbClr val="1C1C24"/>
                </a:solidFill>
                <a:latin typeface="Segoe UI"/>
              </a:rPr>
              <a:t>All 60 clips agree; either branch alone suffices.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81344" y="1152144"/>
            <a:ext cx="5440680" cy="1965960"/>
          </a:xfrm>
          <a:prstGeom prst="roundRect">
            <a:avLst/>
          </a:prstGeom>
          <a:solidFill>
            <a:srgbClr val="F2F4F8"/>
          </a:solidFill>
          <a:ln w="15240">
            <a:solidFill>
              <a:srgbClr val="2E6F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64224" y="1280160"/>
            <a:ext cx="507492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500"/>
              </a:spcAft>
            </a:pPr>
            <a:r>
              <a:rPr sz="1000" b="1" i="0">
                <a:solidFill>
                  <a:srgbClr val="5A5F6E"/>
                </a:solidFill>
                <a:latin typeface="Segoe UI"/>
              </a:rPr>
              <a:t>WHEN IT SAYS REAL   (P = 0.421)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64224" y="1517904"/>
            <a:ext cx="507492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500"/>
              </a:spcAft>
            </a:pPr>
            <a:r>
              <a:rPr sz="1500" b="1" i="0">
                <a:solidFill>
                  <a:srgbClr val="2E6FD9"/>
                </a:solidFill>
                <a:latin typeface="Segoe UI"/>
              </a:rPr>
              <a:t>temporal 70.9% / spatial 29.1%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64224" y="1956816"/>
            <a:ext cx="5074920" cy="1051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500"/>
              </a:spcAft>
            </a:pPr>
            <a:r>
              <a:rPr sz="1050" b="0" i="0">
                <a:solidFill>
                  <a:srgbClr val="1C1C24"/>
                </a:solidFill>
                <a:latin typeface="Segoe UI"/>
              </a:rPr>
              <a:t>MAIN CAUSE: temporal consistency — motion is coherent across frames.</a:t>
            </a:r>
          </a:p>
          <a:p>
            <a:pPr algn="l">
              <a:lnSpc>
                <a:spcPct val="118000"/>
              </a:lnSpc>
              <a:spcAft>
                <a:spcPts val="500"/>
              </a:spcAft>
            </a:pPr>
            <a:r>
              <a:rPr sz="1050" b="0" i="0">
                <a:solidFill>
                  <a:srgbClr val="1C1C24"/>
                </a:solidFill>
                <a:latin typeface="Segoe UI"/>
              </a:rPr>
              <a:t>Within the spatial branch the nose is the strongest REAL vote (-0.601, 60.3%).</a:t>
            </a:r>
          </a:p>
          <a:p>
            <a:pPr algn="l">
              <a:lnSpc>
                <a:spcPct val="118000"/>
              </a:lnSpc>
              <a:spcAft>
                <a:spcPts val="500"/>
              </a:spcAft>
            </a:pPr>
            <a:r>
              <a:rPr sz="1050" b="0" i="0">
                <a:solidFill>
                  <a:srgbClr val="1C1C24"/>
                </a:solidFill>
                <a:latin typeface="Segoe UI"/>
              </a:rPr>
              <a:t>Lower margin: 7 of 60 clips cross the threshold.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3310128"/>
            <a:ext cx="11057839" cy="228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200" b="0" i="0">
                <a:solidFill>
                  <a:srgbClr val="1C1C24"/>
                </a:solidFill>
                <a:latin typeface="Segoe UI"/>
              </a:rPr>
              <a:t>What this tells us about the model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200" b="0" i="0">
                <a:solidFill>
                  <a:srgbClr val="1C1C24"/>
                </a:solidFill>
                <a:latin typeface="Segoe UI"/>
              </a:rPr>
              <a:t>•  Fake detection is driven by the EYES; authenticity is confirmed by MOTION CONSISTENCY — the two verdicts are not mirror images.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200" b="0" i="0">
                <a:solidFill>
                  <a:srgbClr val="1C1C24"/>
                </a:solidFill>
                <a:latin typeface="Segoe UI"/>
              </a:rPr>
              <a:t>•  The spatial branch reads deep semantic layers, the temporal branch also reads shallow texture layers, so the frozen encoder is genuinely used at two depths.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200" b="0" i="0">
                <a:solidFill>
                  <a:srgbClr val="1C1C24"/>
                </a:solidFill>
                <a:latin typeface="Segoe UI"/>
              </a:rPr>
              <a:t>•  On clean video the branches are redundant, so fusion adds confidence rather than coverage.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200" b="0" i="0">
                <a:solidFill>
                  <a:srgbClr val="1C1C24"/>
                </a:solidFill>
                <a:latin typeface="Segoe UI"/>
              </a:rPr>
              <a:t>•  The real weakness is QUALITY, not forgery type: 12/21 degraded conditions raised a false alarm, because blur and compression push scores towards FAKE.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200" b="0" i="0">
                <a:solidFill>
                  <a:srgbClr val="1C1C24"/>
                </a:solidFill>
                <a:latin typeface="Segoe UI"/>
              </a:rPr>
              <a:t>•  Practical consequence: a quality-aware threshold or compression augmentation would help more than an extra branch.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"/>
          </a:xfrm>
          <a:prstGeom prst="rect">
            <a:avLst/>
          </a:prstGeom>
          <a:solidFill>
            <a:srgbClr val="2E6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74320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500"/>
              </a:spcAft>
            </a:pPr>
            <a:r>
              <a:rPr sz="1100" b="1" i="0">
                <a:solidFill>
                  <a:srgbClr val="2E6FD9"/>
                </a:solidFill>
                <a:latin typeface="Segoe UI"/>
              </a:rPr>
              <a:t>APPENDIX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48640"/>
            <a:ext cx="11057839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500"/>
              </a:spcAft>
            </a:pPr>
            <a:r>
              <a:rPr sz="2500" b="1" i="0">
                <a:solidFill>
                  <a:srgbClr val="1C1C24"/>
                </a:solidFill>
                <a:latin typeface="Segoe UI"/>
              </a:rPr>
              <a:t>Method validity and limitations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152144"/>
            <a:ext cx="544068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7000"/>
              </a:lnSpc>
              <a:spcAft>
                <a:spcPts val="500"/>
              </a:spcAft>
            </a:pPr>
            <a:r>
              <a:rPr sz="1150" b="0" i="0">
                <a:solidFill>
                  <a:srgbClr val="1C1C24"/>
                </a:solidFill>
                <a:latin typeface="Segoe UI"/>
              </a:rPr>
              <a:t>Why these numbers can be trusted</a:t>
            </a:r>
          </a:p>
          <a:p>
            <a:pPr algn="l">
              <a:lnSpc>
                <a:spcPct val="127000"/>
              </a:lnSpc>
              <a:spcAft>
                <a:spcPts val="500"/>
              </a:spcAft>
            </a:pPr>
            <a:r>
              <a:rPr sz="1150" b="0" i="0">
                <a:solidFill>
                  <a:srgbClr val="1C1C24"/>
                </a:solidFill>
                <a:latin typeface="Segoe UI"/>
              </a:rPr>
              <a:t>•  The instrumented model reproduces the untouched model's logits to 9e-08 — we are explaining the real checkpoint.</a:t>
            </a:r>
          </a:p>
          <a:p>
            <a:pPr algn="l">
              <a:lnSpc>
                <a:spcPct val="127000"/>
              </a:lnSpc>
              <a:spcAft>
                <a:spcPts val="500"/>
              </a:spcAft>
            </a:pPr>
            <a:r>
              <a:rPr sz="1150" b="0" i="0">
                <a:solidFill>
                  <a:srgbClr val="1C1C24"/>
                </a:solidFill>
                <a:latin typeface="Segoe UI"/>
              </a:rPr>
              <a:t>•  Contributions form an exact additive split, verified to 1e-16 in float64; they sum to the model's own logit with no residual.</a:t>
            </a:r>
          </a:p>
          <a:p>
            <a:pPr algn="l">
              <a:lnSpc>
                <a:spcPct val="127000"/>
              </a:lnSpc>
              <a:spcAft>
                <a:spcPts val="500"/>
              </a:spcAft>
            </a:pPr>
            <a:r>
              <a:rPr sz="1150" b="0" i="0">
                <a:solidFill>
                  <a:srgbClr val="1C1C24"/>
                </a:solidFill>
                <a:latin typeface="Segoe UI"/>
              </a:rPr>
              <a:t>•  Shapley efficiency holds exactly: φ_S + φ_T = P_final − 0.5.</a:t>
            </a:r>
          </a:p>
          <a:p>
            <a:pPr algn="l">
              <a:lnSpc>
                <a:spcPct val="127000"/>
              </a:lnSpc>
              <a:spcAft>
                <a:spcPts val="500"/>
              </a:spcAft>
            </a:pPr>
            <a:r>
              <a:rPr sz="1150" b="0" i="0">
                <a:solidFill>
                  <a:srgbClr val="1C1C24"/>
                </a:solidFill>
                <a:latin typeface="Segoe UI"/>
              </a:rPr>
              <a:t>•  All 569 checkpoint tensors load with 0 missing and 0 unexpected keys; every trainable weight comes from the released file.</a:t>
            </a:r>
          </a:p>
          <a:p>
            <a:pPr algn="l">
              <a:lnSpc>
                <a:spcPct val="127000"/>
              </a:lnSpc>
              <a:spcAft>
                <a:spcPts val="500"/>
              </a:spcAft>
            </a:pPr>
            <a:r>
              <a:rPr sz="1150" b="0" i="0">
                <a:solidFill>
                  <a:srgbClr val="1C1C24"/>
                </a:solidFill>
                <a:latin typeface="Segoe UI"/>
              </a:rPr>
              <a:t>•  Labels verified from FaceForensics++ naming and confirmed visually: the difference between the pair is confined to the inner face, 22.7× the background difference.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81344" y="1152144"/>
            <a:ext cx="544068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7000"/>
              </a:lnSpc>
              <a:spcAft>
                <a:spcPts val="500"/>
              </a:spcAft>
            </a:pPr>
            <a:r>
              <a:rPr sz="1150" b="0" i="0">
                <a:solidFill>
                  <a:srgbClr val="1C1C24"/>
                </a:solidFill>
                <a:latin typeface="Segoe UI"/>
              </a:rPr>
              <a:t>Limitations stated honestly</a:t>
            </a:r>
          </a:p>
          <a:p>
            <a:pPr algn="l">
              <a:lnSpc>
                <a:spcPct val="127000"/>
              </a:lnSpc>
              <a:spcAft>
                <a:spcPts val="500"/>
              </a:spcAft>
            </a:pPr>
            <a:r>
              <a:rPr sz="1150" b="0" i="0">
                <a:solidFill>
                  <a:srgbClr val="1C1C24"/>
                </a:solidFill>
                <a:latin typeface="Segoe UI"/>
              </a:rPr>
              <a:t>•  Two videos only. These are the samples shipped with the repository; FaceForensics++, Celeb-DF and DFDC are EULA-gated and cannot be downloaded without a signed agreement, so no cross-dataset generalisation is claimed.</a:t>
            </a:r>
          </a:p>
          <a:p>
            <a:pPr algn="l">
              <a:lnSpc>
                <a:spcPct val="127000"/>
              </a:lnSpc>
              <a:spcAft>
                <a:spcPts val="500"/>
              </a:spcAft>
            </a:pPr>
            <a:r>
              <a:rPr sz="1150" b="0" i="0">
                <a:solidFill>
                  <a:srgbClr val="1C1C24"/>
                </a:solidFill>
                <a:latin typeface="Segoe UI"/>
              </a:rPr>
              <a:t>•  Single-branch numbers are inference-time ablations of this checkpoint, not models re-trained with op_mode=[S] or [T], which would converge to different weights.</a:t>
            </a:r>
          </a:p>
          <a:p>
            <a:pPr algn="l">
              <a:lnSpc>
                <a:spcPct val="127000"/>
              </a:lnSpc>
              <a:spcAft>
                <a:spcPts val="500"/>
              </a:spcAft>
            </a:pPr>
            <a:r>
              <a:rPr sz="1150" b="0" i="0">
                <a:solidFill>
                  <a:srgbClr val="1C1C24"/>
                </a:solidFill>
                <a:latin typeface="Segoe UI"/>
              </a:rPr>
              <a:t>•  Patch-to-zone mapping uses nearest-landmark assignment on a 16×16 grid, so zone boundaries are approximate even though patch contributions are exact.</a:t>
            </a:r>
          </a:p>
          <a:p>
            <a:pPr algn="l">
              <a:lnSpc>
                <a:spcPct val="127000"/>
              </a:lnSpc>
              <a:spcAft>
                <a:spcPts val="500"/>
              </a:spcAft>
            </a:pPr>
            <a:r>
              <a:rPr sz="1150" b="0" i="0">
                <a:solidFill>
                  <a:srgbClr val="1C1C24"/>
                </a:solidFill>
                <a:latin typeface="Segoe UI"/>
              </a:rPr>
              <a:t>•  The robustness sweep uses 8 clips per condition; the main analysis uses 60.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"/>
          </a:xfrm>
          <a:prstGeom prst="rect">
            <a:avLst/>
          </a:prstGeom>
          <a:solidFill>
            <a:srgbClr val="2E6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74320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500"/>
              </a:spcAft>
            </a:pPr>
            <a:r>
              <a:rPr sz="1100" b="1" i="0">
                <a:solidFill>
                  <a:srgbClr val="2E6FD9"/>
                </a:solidFill>
                <a:latin typeface="Segoe UI"/>
              </a:rPr>
              <a:t>APPENDIX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48640"/>
            <a:ext cx="11057839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500"/>
              </a:spcAft>
            </a:pPr>
            <a:r>
              <a:rPr sz="2500" b="1" i="0">
                <a:solidFill>
                  <a:srgbClr val="1C1C24"/>
                </a:solidFill>
                <a:latin typeface="Segoe UI"/>
              </a:rPr>
              <a:t>Reproducing this analysis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152144"/>
            <a:ext cx="11057839" cy="411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200" b="0" i="0">
                <a:solidFill>
                  <a:srgbClr val="1C1C24"/>
                </a:solidFill>
                <a:latin typeface="Segoe UI"/>
              </a:rPr>
              <a:t>Pipeline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200" b="0" i="0">
                <a:solidFill>
                  <a:srgbClr val="1C1C24"/>
                </a:solidFill>
                <a:latin typeface="Segoe UI"/>
              </a:rPr>
              <a:t>1.  landmarks + bboxes            python -m src.preprocess.fetch_landmark_bbox ...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200" b="0" i="0">
                <a:solidFill>
                  <a:srgbClr val="1C1C24"/>
                </a:solidFill>
                <a:latin typeface="Segoe UI"/>
              </a:rPr>
              <a:t>2.  aligned face cropping         python -m src.preprocess.crop_main_face ...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200" b="0" i="0">
                <a:solidFill>
                  <a:srgbClr val="1C1C24"/>
                </a:solidFill>
                <a:latin typeface="Segoe UI"/>
              </a:rPr>
              <a:t>3.  exactness self-test           python xai/smoke.py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200" b="0" i="0">
                <a:solidFill>
                  <a:srgbClr val="1C1C24"/>
                </a:solidFill>
                <a:latin typeface="Segoe UI"/>
              </a:rPr>
              <a:t>4.  main analysis, 60 clips/video python xai/run_analysis.py --max-clips 60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200" b="0" i="0">
                <a:solidFill>
                  <a:srgbClr val="1C1C24"/>
                </a:solidFill>
                <a:latin typeface="Segoe UI"/>
              </a:rPr>
              <a:t>5.  figures + derived metrics     python xai/make_figures.py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200" b="0" i="0">
                <a:solidFill>
                  <a:srgbClr val="1C1C24"/>
                </a:solidFill>
                <a:latin typeface="Segoe UI"/>
              </a:rPr>
              <a:t>6.  robustness sweep              python xai/run_robustness.py --levels 1 3 5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200" b="0" i="0">
                <a:solidFill>
                  <a:srgbClr val="1C1C24"/>
                </a:solidFill>
                <a:latin typeface="Segoe UI"/>
              </a:rPr>
              <a:t>7.  audits                        python xai/audit/audit_math2.py , audit_pipeline.py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200" b="0" i="0">
                <a:solidFill>
                  <a:srgbClr val="1C1C24"/>
                </a:solidFill>
                <a:latin typeface="Segoe UI"/>
              </a:rPr>
              <a:t>8.  deck                          python xai/build_deck.py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200" b="0" i="0">
                <a:solidFill>
                  <a:srgbClr val="1C1C24"/>
                </a:solidFill>
                <a:latin typeface="Segoe UI"/>
              </a:rPr>
              <a:t/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200" b="0" i="0">
                <a:solidFill>
                  <a:srgbClr val="1C1C24"/>
                </a:solidFill>
                <a:latin typeface="Segoe UI"/>
              </a:rPr>
              <a:t>Environment: Windows, RTX 3050 Ti 4 GB (peak 2.5 GB at batch size 2), torch 2.6 + CUDA 12.4.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200" b="0" i="0">
                <a:solidFill>
                  <a:srgbClr val="1C1C24"/>
                </a:solidFill>
                <a:latin typeface="Segoe UI"/>
              </a:rPr>
              <a:t>Outputs: xai/out/{report,derived,robustness}.json + arrays.npz; figures in xai/figs/.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200" b="0" i="0">
                <a:solidFill>
                  <a:srgbClr val="1C1C24"/>
                </a:solidFill>
                <a:latin typeface="Segoe UI"/>
              </a:rPr>
              <a:t>Checkpoint: released FFG ViT-L/14 weights from the authors' Google Drive link.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053328"/>
            <a:ext cx="1105783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500"/>
              </a:spcAft>
            </a:pPr>
            <a:r>
              <a:rPr sz="1000" b="0" i="0">
                <a:solidFill>
                  <a:srgbClr val="5A5F6E"/>
                </a:solidFill>
                <a:latin typeface="Segoe UI"/>
              </a:rPr>
              <a:t>Han, Huang, Hua, Chen — Towards More General Video-based Deepfake Detection through Facial Component Guided Adaptation for Foundation Model, CVPR 2025  ·  arXiv:2404.05583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